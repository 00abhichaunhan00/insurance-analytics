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Revenue (INR M)</c:v>
          </c:tx>
          <c:spPr>
            <a:solidFill>
              <a:srgbClr val="2F80C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183B56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Delhi NCR</c:v>
              </c:pt>
              <c:pt idx="1">
                <c:v>Mumbai</c:v>
              </c:pt>
              <c:pt idx="2">
                <c:v>Hyderabad</c:v>
              </c:pt>
              <c:pt idx="3">
                <c:v>Chennai</c:v>
              </c:pt>
              <c:pt idx="4">
                <c:v>Indore</c:v>
              </c:pt>
            </c:strLit>
          </c:cat>
          <c:val>
            <c:numLit>
              <c:formatCode>General</c:formatCode>
              <c:ptCount val="5"/>
              <c:pt idx="0">
                <c:v>401.6</c:v>
              </c:pt>
              <c:pt idx="1">
                <c:v>239.5</c:v>
              </c:pt>
              <c:pt idx="2">
                <c:v>160.5</c:v>
              </c:pt>
              <c:pt idx="3">
                <c:v>106.3</c:v>
              </c:pt>
              <c:pt idx="4">
                <c:v>81.3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F28-4E04-A4AC-07BF5A964E7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8E4ED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1738A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Revenue (INR M)</c:v>
          </c:tx>
          <c:spPr>
            <a:ln w="28575">
              <a:solidFill>
                <a:srgbClr val="2F80C3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2F80C3"/>
              </a:solidFill>
            </c:spPr>
          </c:marker>
          <c:cat>
            <c:strLit>
              <c:ptCount val="6"/>
              <c:pt idx="0">
                <c:v>Nov 22</c:v>
              </c:pt>
              <c:pt idx="1">
                <c:v>Dec 22</c:v>
              </c:pt>
              <c:pt idx="2">
                <c:v>Jan 23</c:v>
              </c:pt>
              <c:pt idx="3">
                <c:v>Feb 23</c:v>
              </c:pt>
              <c:pt idx="4">
                <c:v>Mar 23</c:v>
              </c:pt>
              <c:pt idx="5">
                <c:v>Apr 23</c:v>
              </c:pt>
            </c:strLit>
          </c:cat>
          <c:val>
            <c:numLit>
              <c:formatCode>General</c:formatCode>
              <c:ptCount val="6"/>
              <c:pt idx="0">
                <c:v>133</c:v>
              </c:pt>
              <c:pt idx="1">
                <c:v>155</c:v>
              </c:pt>
              <c:pt idx="2">
                <c:v>140</c:v>
              </c:pt>
              <c:pt idx="3">
                <c:v>142</c:v>
              </c:pt>
              <c:pt idx="4">
                <c:v>263</c:v>
              </c:pt>
              <c:pt idx="5">
                <c:v>155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9DDA-451F-BF99-DDE29CC05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1738A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8E4ED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1738A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Source: Insurance Analytics Dashboard project and PBIP model supplied by the user.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Source: Client project requirements supplied by the user.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Source: PBIP semantic model tables: dim_customer, fact_premiums, dim_policies, fact_settlements and dim_date.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Source: key_metrics table in the supplied Power BI semantic model.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Source: Redesigned Insurance Analytics PBIP report pages created from the supplied project.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Source: Dashboard screenshot supplied by the user. Total customers and total revenue are visible in the city summary.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Source: City summary visible in the user-supplied dashboard screenshot. Revenue values converted from INR to INR M.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Source: Monthly revenue trend visible in the user-supplied dashboard screenshot. Values are approximate read-offs from the plotted monthly trend.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Source: Age group charts and expected settlement measure in the user-supplied dashboard and semantic model.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Source: Summary of the dashboard project analysis.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F4536BD-2935-41E7-9EA4-A32A34B23A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667"/>
            </a:avLst>
          </a:prstGeom>
          <a:solidFill>
            <a:srgbClr val="F4F8F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B94E72-8D53-44AC-912C-28268283EE31}"/>
              </a:ext>
            </a:extLst>
          </p:cNvPr>
          <p:cNvSpPr>
            <a:spLocks noGrp="1"/>
          </p:cNvSpPr>
          <p:nvPr/>
        </p:nvSpPr>
        <p:spPr>
          <a:xfrm>
            <a:off x="7162800" y="0"/>
            <a:ext cx="5029200" cy="6858000"/>
          </a:xfrm>
          <a:prstGeom prst="rect">
            <a:avLst/>
          </a:prstGeom>
          <a:solidFill>
            <a:srgbClr val="EAF4FB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2F79B6-3A0B-4E02-80AE-D406FA10F8AA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F80C3"/>
                </a:solidFill>
              </a:defRPr>
            </a:pPr>
            <a:r>
              <a:rPr sz="975" b="1">
                <a:solidFill>
                  <a:srgbClr val="2F80C3"/>
                </a:solidFill>
              </a:rPr>
              <a:t>POWER BI PORTFOLIO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70A2C3-0334-4D2A-ADBF-26FE149C385E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5810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1D5578"/>
                </a:solidFill>
              </a:defRPr>
            </a:pPr>
            <a:r>
              <a:rPr sz="4050" b="1">
                <a:solidFill>
                  <a:srgbClr val="1D5578"/>
                </a:solidFill>
              </a:rPr>
              <a:t>Insurance Analytics</a:t>
            </a:r>
          </a:p>
          <a:p>
            <a:pPr algn="l">
              <a:defRPr sz="4050" b="1">
                <a:solidFill>
                  <a:srgbClr val="1D5578"/>
                </a:solidFill>
              </a:defRPr>
            </a:pPr>
            <a:r>
              <a:rPr sz="4050" b="1">
                <a:solidFill>
                  <a:srgbClr val="1D5578"/>
                </a:solidFill>
              </a:rPr>
              <a:t>Dashboard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08FBD0-044F-498E-B0E9-2A7FC117E1FF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533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61738A"/>
                </a:solidFill>
              </a:defRPr>
            </a:pPr>
            <a:r>
              <a:rPr sz="1725" b="0">
                <a:solidFill>
                  <a:srgbClr val="61738A"/>
                </a:solidFill>
              </a:rPr>
              <a:t>Turning premium, customer and policy data into business decisions.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160311-EF22-49BC-8EBF-88A65CEBD0C2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342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83B56"/>
                </a:solidFill>
              </a:defRPr>
            </a:pPr>
            <a:r>
              <a:rPr sz="1200" b="1" dirty="0">
                <a:solidFill>
                  <a:srgbClr val="183B56"/>
                </a:solidFill>
              </a:rPr>
              <a:t>Prepared by </a:t>
            </a:r>
            <a:r>
              <a:rPr lang="en-US" sz="1200" b="1" dirty="0">
                <a:solidFill>
                  <a:srgbClr val="183B56"/>
                </a:solidFill>
              </a:rPr>
              <a:t>Abhishek</a:t>
            </a:r>
            <a:r>
              <a:rPr sz="1200" b="1" dirty="0">
                <a:solidFill>
                  <a:srgbClr val="183B56"/>
                </a:solidFill>
              </a:rPr>
              <a:t> Singh</a:t>
            </a:r>
            <a:r>
              <a:rPr lang="en-US" sz="1200" b="1" dirty="0">
                <a:solidFill>
                  <a:srgbClr val="183B56"/>
                </a:solidFill>
              </a:rPr>
              <a:t> Chauhan</a:t>
            </a:r>
            <a:endParaRPr sz="1200" b="1" dirty="0">
              <a:solidFill>
                <a:srgbClr val="183B56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4A1049-E466-436C-B23B-9F9993E8B274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1738A"/>
                </a:solidFill>
              </a:defRPr>
            </a:pPr>
            <a:r>
              <a:rPr sz="1050" b="0">
                <a:solidFill>
                  <a:srgbClr val="61738A"/>
                </a:solidFill>
              </a:rPr>
              <a:t>Data Modelling  •  DAX  •  Power BI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606483A-8407-4D2A-985A-6ADC9F5919DA}"/>
              </a:ext>
            </a:extLst>
          </p:cNvPr>
          <p:cNvSpPr>
            <a:spLocks noGrp="1"/>
          </p:cNvSpPr>
          <p:nvPr/>
        </p:nvSpPr>
        <p:spPr>
          <a:xfrm>
            <a:off x="7943850" y="2362200"/>
            <a:ext cx="609600" cy="1524000"/>
          </a:xfrm>
          <a:prstGeom prst="roundRect">
            <a:avLst>
              <a:gd name="adj" fmla="val 12500"/>
            </a:avLst>
          </a:prstGeom>
          <a:solidFill>
            <a:srgbClr val="26A69A"/>
          </a:solidFill>
          <a:ln w="0">
            <a:noFill/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B9AA5FA-71FC-4EF2-9038-A50C87BF68E8}"/>
              </a:ext>
            </a:extLst>
          </p:cNvPr>
          <p:cNvSpPr>
            <a:spLocks noGrp="1"/>
          </p:cNvSpPr>
          <p:nvPr/>
        </p:nvSpPr>
        <p:spPr>
          <a:xfrm>
            <a:off x="8839200" y="2019300"/>
            <a:ext cx="609600" cy="1866900"/>
          </a:xfrm>
          <a:prstGeom prst="roundRect">
            <a:avLst>
              <a:gd name="adj" fmla="val 12500"/>
            </a:avLst>
          </a:prstGeom>
          <a:solidFill>
            <a:srgbClr val="2F80C3"/>
          </a:solidFill>
          <a:ln w="0">
            <a:noFill/>
            <a:prstDash val="solid"/>
          </a:ln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5C11422-D2EE-487E-863A-A14FCF38D7E2}"/>
              </a:ext>
            </a:extLst>
          </p:cNvPr>
          <p:cNvSpPr>
            <a:spLocks noGrp="1"/>
          </p:cNvSpPr>
          <p:nvPr/>
        </p:nvSpPr>
        <p:spPr>
          <a:xfrm>
            <a:off x="9734550" y="1676400"/>
            <a:ext cx="609600" cy="2209800"/>
          </a:xfrm>
          <a:prstGeom prst="roundRect">
            <a:avLst>
              <a:gd name="adj" fmla="val 12500"/>
            </a:avLst>
          </a:prstGeom>
          <a:solidFill>
            <a:srgbClr val="70A84B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E29E40-0D84-448D-A675-DE6B5DD53C23}"/>
              </a:ext>
            </a:extLst>
          </p:cNvPr>
          <p:cNvSpPr>
            <a:spLocks noGrp="1"/>
          </p:cNvSpPr>
          <p:nvPr/>
        </p:nvSpPr>
        <p:spPr>
          <a:xfrm>
            <a:off x="7867650" y="4476750"/>
            <a:ext cx="2952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D5578"/>
                </a:solidFill>
              </a:defRPr>
            </a:pPr>
            <a:r>
              <a:rPr sz="1575" b="1">
                <a:solidFill>
                  <a:srgbClr val="1D5578"/>
                </a:solidFill>
              </a:rPr>
              <a:t>Customer</a:t>
            </a:r>
          </a:p>
          <a:p>
            <a:pPr algn="ctr">
              <a:defRPr sz="1575" b="1">
                <a:solidFill>
                  <a:srgbClr val="1D5578"/>
                </a:solidFill>
              </a:defRPr>
            </a:pPr>
            <a:r>
              <a:rPr sz="1575" b="1">
                <a:solidFill>
                  <a:srgbClr val="1D5578"/>
                </a:solidFill>
              </a:rPr>
              <a:t>Revenue</a:t>
            </a:r>
          </a:p>
          <a:p>
            <a:pPr algn="ctr">
              <a:defRPr sz="1575" b="1">
                <a:solidFill>
                  <a:srgbClr val="1D5578"/>
                </a:solidFill>
              </a:defRPr>
            </a:pPr>
            <a:r>
              <a:rPr sz="1575" b="1">
                <a:solidFill>
                  <a:srgbClr val="1D5578"/>
                </a:solidFill>
              </a:rPr>
              <a:t>Settlement</a:t>
            </a:r>
          </a:p>
        </p:txBody>
      </p:sp>
    </p:spTree>
    <p:extLst>
      <p:ext uri="{BB962C8B-B14F-4D97-AF65-F5344CB8AC3E}">
        <p14:creationId xmlns:p14="http://schemas.microsoft.com/office/powerpoint/2010/main" val="746204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3FC2D07-5F67-4C68-8629-528C297C286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F80C3"/>
                </a:solidFill>
              </a:defRPr>
            </a:pPr>
            <a:r>
              <a:rPr sz="900" b="1">
                <a:solidFill>
                  <a:srgbClr val="2F80C3"/>
                </a:solidFill>
              </a:rPr>
              <a:t>THE BUSINESS NEED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1F1FB8-4C32-4A58-8B54-E427B1FBDBB2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D5578"/>
                </a:solidFill>
              </a:defRPr>
            </a:pPr>
            <a:r>
              <a:rPr sz="2550" b="1">
                <a:solidFill>
                  <a:srgbClr val="1D5578"/>
                </a:solidFill>
              </a:rPr>
              <a:t>The team needed one view of insurance performance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54CDCE-CA43-4EE6-A60C-299736C2D495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09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1738A"/>
                </a:solidFill>
              </a:defRPr>
            </a:pPr>
            <a:r>
              <a:rPr sz="1275" b="0">
                <a:solidFill>
                  <a:srgbClr val="61738A"/>
                </a:solidFill>
              </a:rPr>
              <a:t>The work began with a reporting problem, not a chart requirement.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229AC9-F346-4B97-BB13-02A221DCB2FA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19050"/>
          </a:xfrm>
          <a:prstGeom prst="rect">
            <a:avLst/>
          </a:prstGeom>
          <a:solidFill>
            <a:srgbClr val="D8E4ED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CBCE9F-14B4-47DD-919A-A89166C9C5C9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4953000" cy="3238500"/>
          </a:xfrm>
          <a:prstGeom prst="roundRect">
            <a:avLst>
              <a:gd name="adj" fmla="val 3529"/>
            </a:avLst>
          </a:prstGeom>
          <a:solidFill>
            <a:srgbClr val="EAF4FB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9EC57E-6040-4BBA-8A2B-471E416BCF51}"/>
              </a:ext>
            </a:extLst>
          </p:cNvPr>
          <p:cNvSpPr>
            <a:spLocks noGrp="1"/>
          </p:cNvSpPr>
          <p:nvPr/>
        </p:nvSpPr>
        <p:spPr>
          <a:xfrm>
            <a:off x="990600" y="24765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D5578"/>
                </a:solidFill>
              </a:defRPr>
            </a:pPr>
            <a:r>
              <a:rPr sz="1650" b="1">
                <a:solidFill>
                  <a:srgbClr val="1D5578"/>
                </a:solidFill>
              </a:rPr>
              <a:t>Without a single dashboard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C4B2E5-84EA-46EE-A940-078C9A8C873E}"/>
              </a:ext>
            </a:extLst>
          </p:cNvPr>
          <p:cNvSpPr>
            <a:spLocks noGrp="1"/>
          </p:cNvSpPr>
          <p:nvPr/>
        </p:nvSpPr>
        <p:spPr>
          <a:xfrm>
            <a:off x="990600" y="297180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6A69A"/>
                </a:solidFill>
              </a:defRPr>
            </a:pPr>
            <a:r>
              <a:rPr sz="1650" b="1">
                <a:solidFill>
                  <a:srgbClr val="26A69A"/>
                </a:solidFill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48798A-EEC4-46EA-A44A-E80D88D76709}"/>
              </a:ext>
            </a:extLst>
          </p:cNvPr>
          <p:cNvSpPr>
            <a:spLocks noGrp="1"/>
          </p:cNvSpPr>
          <p:nvPr/>
        </p:nvSpPr>
        <p:spPr>
          <a:xfrm>
            <a:off x="1228725" y="2971800"/>
            <a:ext cx="3857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3B56"/>
                </a:solidFill>
              </a:defRPr>
            </a:pPr>
            <a:r>
              <a:rPr sz="1275" b="0">
                <a:solidFill>
                  <a:srgbClr val="183B56"/>
                </a:solidFill>
              </a:rPr>
              <a:t>Customer and revenue performance was hard to track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32CB63-46DF-46F0-86C3-95AD3555023F}"/>
              </a:ext>
            </a:extLst>
          </p:cNvPr>
          <p:cNvSpPr>
            <a:spLocks noGrp="1"/>
          </p:cNvSpPr>
          <p:nvPr/>
        </p:nvSpPr>
        <p:spPr>
          <a:xfrm>
            <a:off x="990600" y="34480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6A69A"/>
                </a:solidFill>
              </a:defRPr>
            </a:pPr>
            <a:r>
              <a:rPr sz="1650" b="1">
                <a:solidFill>
                  <a:srgbClr val="26A69A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4FBF5A-04D2-4DD4-A243-DE10AE8D9CB5}"/>
              </a:ext>
            </a:extLst>
          </p:cNvPr>
          <p:cNvSpPr>
            <a:spLocks noGrp="1"/>
          </p:cNvSpPr>
          <p:nvPr/>
        </p:nvSpPr>
        <p:spPr>
          <a:xfrm>
            <a:off x="1228725" y="3448050"/>
            <a:ext cx="3857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3B56"/>
                </a:solidFill>
              </a:defRPr>
            </a:pPr>
            <a:r>
              <a:rPr sz="1275" b="0">
                <a:solidFill>
                  <a:srgbClr val="183B56"/>
                </a:solidFill>
              </a:rPr>
              <a:t>City, age and sales-mode analysis was fragmented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9A67D0-DAFB-4E9F-94EB-27586954F428}"/>
              </a:ext>
            </a:extLst>
          </p:cNvPr>
          <p:cNvSpPr>
            <a:spLocks noGrp="1"/>
          </p:cNvSpPr>
          <p:nvPr/>
        </p:nvSpPr>
        <p:spPr>
          <a:xfrm>
            <a:off x="990600" y="392430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6A69A"/>
                </a:solidFill>
              </a:defRPr>
            </a:pPr>
            <a:r>
              <a:rPr sz="1650" b="1">
                <a:solidFill>
                  <a:srgbClr val="26A69A"/>
                </a:solidFill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1B3545-FAA0-40A4-A4A5-754DBB07E416}"/>
              </a:ext>
            </a:extLst>
          </p:cNvPr>
          <p:cNvSpPr>
            <a:spLocks noGrp="1"/>
          </p:cNvSpPr>
          <p:nvPr/>
        </p:nvSpPr>
        <p:spPr>
          <a:xfrm>
            <a:off x="1228725" y="3924300"/>
            <a:ext cx="3857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3B56"/>
                </a:solidFill>
              </a:defRPr>
            </a:pPr>
            <a:r>
              <a:rPr sz="1275" b="0">
                <a:solidFill>
                  <a:srgbClr val="183B56"/>
                </a:solidFill>
              </a:rPr>
              <a:t>Policy change was not visible month over month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047A3B-7AB7-440A-B0EA-428085479281}"/>
              </a:ext>
            </a:extLst>
          </p:cNvPr>
          <p:cNvSpPr>
            <a:spLocks noGrp="1"/>
          </p:cNvSpPr>
          <p:nvPr/>
        </p:nvSpPr>
        <p:spPr>
          <a:xfrm>
            <a:off x="990600" y="44005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6A69A"/>
                </a:solidFill>
              </a:defRPr>
            </a:pPr>
            <a:r>
              <a:rPr sz="1650" b="1">
                <a:solidFill>
                  <a:srgbClr val="26A69A"/>
                </a:solidFill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FE4193-8C07-4A08-86BA-4C89574C1DAB}"/>
              </a:ext>
            </a:extLst>
          </p:cNvPr>
          <p:cNvSpPr>
            <a:spLocks noGrp="1"/>
          </p:cNvSpPr>
          <p:nvPr/>
        </p:nvSpPr>
        <p:spPr>
          <a:xfrm>
            <a:off x="1228725" y="4400550"/>
            <a:ext cx="3857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3B56"/>
                </a:solidFill>
              </a:defRPr>
            </a:pPr>
            <a:r>
              <a:rPr sz="1275" b="0">
                <a:solidFill>
                  <a:srgbClr val="183B56"/>
                </a:solidFill>
              </a:rPr>
              <a:t>Settlement exposure was not linked to customer segments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F1532AE-30B3-47CC-B2A3-D73C290D68B7}"/>
              </a:ext>
            </a:extLst>
          </p:cNvPr>
          <p:cNvSpPr>
            <a:spLocks noGrp="1"/>
          </p:cNvSpPr>
          <p:nvPr/>
        </p:nvSpPr>
        <p:spPr>
          <a:xfrm>
            <a:off x="6096000" y="2171700"/>
            <a:ext cx="5410200" cy="3238500"/>
          </a:xfrm>
          <a:prstGeom prst="roundRect">
            <a:avLst>
              <a:gd name="adj" fmla="val 3529"/>
            </a:avLst>
          </a:prstGeom>
          <a:solidFill>
            <a:srgbClr val="EAF6F2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C0DB59-F39B-44B5-B0D4-F2A9BF356589}"/>
              </a:ext>
            </a:extLst>
          </p:cNvPr>
          <p:cNvSpPr>
            <a:spLocks noGrp="1"/>
          </p:cNvSpPr>
          <p:nvPr/>
        </p:nvSpPr>
        <p:spPr>
          <a:xfrm>
            <a:off x="6438900" y="247650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D5578"/>
                </a:solidFill>
              </a:defRPr>
            </a:pPr>
            <a:r>
              <a:rPr sz="1650" b="1">
                <a:solidFill>
                  <a:srgbClr val="1D5578"/>
                </a:solidFill>
              </a:rPr>
              <a:t>What the dashboard needed to answer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60A47F-5F97-405C-B646-F0480673A46D}"/>
              </a:ext>
            </a:extLst>
          </p:cNvPr>
          <p:cNvSpPr>
            <a:spLocks noGrp="1"/>
          </p:cNvSpPr>
          <p:nvPr/>
        </p:nvSpPr>
        <p:spPr>
          <a:xfrm>
            <a:off x="6438900" y="304800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6A69A"/>
                </a:solidFill>
              </a:defRPr>
            </a:pPr>
            <a:r>
              <a:rPr sz="1650" b="1">
                <a:solidFill>
                  <a:srgbClr val="26A69A"/>
                </a:solidFill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D87D9B-8F16-467F-B856-1724D815599C}"/>
              </a:ext>
            </a:extLst>
          </p:cNvPr>
          <p:cNvSpPr>
            <a:spLocks noGrp="1"/>
          </p:cNvSpPr>
          <p:nvPr/>
        </p:nvSpPr>
        <p:spPr>
          <a:xfrm>
            <a:off x="6677025" y="3048000"/>
            <a:ext cx="4143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83B56"/>
                </a:solidFill>
              </a:defRPr>
            </a:pPr>
            <a:r>
              <a:rPr sz="1350" b="0">
                <a:solidFill>
                  <a:srgbClr val="183B56"/>
                </a:solidFill>
              </a:rPr>
              <a:t>How many customers do we have?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831CCD-95B1-4655-8CE0-E3557DD2FA3B}"/>
              </a:ext>
            </a:extLst>
          </p:cNvPr>
          <p:cNvSpPr>
            <a:spLocks noGrp="1"/>
          </p:cNvSpPr>
          <p:nvPr/>
        </p:nvSpPr>
        <p:spPr>
          <a:xfrm>
            <a:off x="6438900" y="35623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6A69A"/>
                </a:solidFill>
              </a:defRPr>
            </a:pPr>
            <a:r>
              <a:rPr sz="1650" b="1">
                <a:solidFill>
                  <a:srgbClr val="26A69A"/>
                </a:solidFill>
              </a:rPr>
              <a:t>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183B92-B460-47EA-97F1-89689359B22C}"/>
              </a:ext>
            </a:extLst>
          </p:cNvPr>
          <p:cNvSpPr>
            <a:spLocks noGrp="1"/>
          </p:cNvSpPr>
          <p:nvPr/>
        </p:nvSpPr>
        <p:spPr>
          <a:xfrm>
            <a:off x="6677025" y="3562350"/>
            <a:ext cx="4143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83B56"/>
                </a:solidFill>
              </a:defRPr>
            </a:pPr>
            <a:r>
              <a:rPr sz="1350" b="0">
                <a:solidFill>
                  <a:srgbClr val="183B56"/>
                </a:solidFill>
              </a:rPr>
              <a:t>Where is revenue coming from?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1CB9DF-D8A0-4DA6-84B5-7305BD155C82}"/>
              </a:ext>
            </a:extLst>
          </p:cNvPr>
          <p:cNvSpPr>
            <a:spLocks noGrp="1"/>
          </p:cNvSpPr>
          <p:nvPr/>
        </p:nvSpPr>
        <p:spPr>
          <a:xfrm>
            <a:off x="6438900" y="407670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6A69A"/>
                </a:solidFill>
              </a:defRPr>
            </a:pPr>
            <a:r>
              <a:rPr sz="1650" b="1">
                <a:solidFill>
                  <a:srgbClr val="26A69A"/>
                </a:solidFill>
              </a:rPr>
              <a:t>•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711D15-1A14-4E68-A042-F711944C4C4E}"/>
              </a:ext>
            </a:extLst>
          </p:cNvPr>
          <p:cNvSpPr>
            <a:spLocks noGrp="1"/>
          </p:cNvSpPr>
          <p:nvPr/>
        </p:nvSpPr>
        <p:spPr>
          <a:xfrm>
            <a:off x="6677025" y="4076700"/>
            <a:ext cx="4143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83B56"/>
                </a:solidFill>
              </a:defRPr>
            </a:pPr>
            <a:r>
              <a:rPr sz="1350" b="0">
                <a:solidFill>
                  <a:srgbClr val="183B56"/>
                </a:solidFill>
              </a:rPr>
              <a:t>Which customer groups create value and exposure?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0B4C82-8F66-48DC-AAAE-5257824AE6FC}"/>
              </a:ext>
            </a:extLst>
          </p:cNvPr>
          <p:cNvSpPr>
            <a:spLocks noGrp="1"/>
          </p:cNvSpPr>
          <p:nvPr/>
        </p:nvSpPr>
        <p:spPr>
          <a:xfrm>
            <a:off x="6438900" y="45910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6A69A"/>
                </a:solidFill>
              </a:defRPr>
            </a:pPr>
            <a:r>
              <a:rPr sz="1650" b="1">
                <a:solidFill>
                  <a:srgbClr val="26A69A"/>
                </a:solidFill>
              </a:rPr>
              <a:t>•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A9CF8C-4A7A-4AA4-B475-401F2A3B2D03}"/>
              </a:ext>
            </a:extLst>
          </p:cNvPr>
          <p:cNvSpPr>
            <a:spLocks noGrp="1"/>
          </p:cNvSpPr>
          <p:nvPr/>
        </p:nvSpPr>
        <p:spPr>
          <a:xfrm>
            <a:off x="6677025" y="4591050"/>
            <a:ext cx="4143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83B56"/>
                </a:solidFill>
              </a:defRPr>
            </a:pPr>
            <a:r>
              <a:rPr sz="1350" b="0">
                <a:solidFill>
                  <a:srgbClr val="183B56"/>
                </a:solidFill>
              </a:rPr>
              <a:t>Where should the business take action next?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F3EB2D-9548-4391-B8AE-EB8B4CEB867E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1738A"/>
                </a:solidFill>
              </a:defRPr>
            </a:pPr>
            <a:r>
              <a:rPr sz="750" b="0">
                <a:solidFill>
                  <a:srgbClr val="61738A"/>
                </a:solidFill>
              </a:rPr>
              <a:t>Insurance Analytics Dashboard  |  02</a:t>
            </a:r>
          </a:p>
        </p:txBody>
      </p:sp>
    </p:spTree>
    <p:extLst>
      <p:ext uri="{BB962C8B-B14F-4D97-AF65-F5344CB8AC3E}">
        <p14:creationId xmlns:p14="http://schemas.microsoft.com/office/powerpoint/2010/main" val="1284829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7DC17EB-7C3C-43EC-9F1A-96CEEF2B108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F80C3"/>
                </a:solidFill>
              </a:defRPr>
            </a:pPr>
            <a:r>
              <a:rPr sz="900" b="1">
                <a:solidFill>
                  <a:srgbClr val="2F80C3"/>
                </a:solidFill>
              </a:rPr>
              <a:t>DATA PREPARATION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2A5695-8272-4690-9D24-81306C0DA1F5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D5578"/>
                </a:solidFill>
              </a:defRPr>
            </a:pPr>
            <a:r>
              <a:rPr sz="2550" b="1">
                <a:solidFill>
                  <a:srgbClr val="1D5578"/>
                </a:solidFill>
              </a:rPr>
              <a:t>A simple model made analysis responsive to filters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39EFB5-2B53-405E-BA8D-8D1D82B3025D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09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1738A"/>
                </a:solidFill>
              </a:defRPr>
            </a:pPr>
            <a:r>
              <a:rPr sz="1275" b="0">
                <a:solidFill>
                  <a:srgbClr val="61738A"/>
                </a:solidFill>
              </a:rPr>
              <a:t>The dashboard combines five connected business areas.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F77343-C604-49FC-830F-A7A5B0E9D5D6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19050"/>
          </a:xfrm>
          <a:prstGeom prst="rect">
            <a:avLst/>
          </a:prstGeom>
          <a:solidFill>
            <a:srgbClr val="D8E4ED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4328FF-9F85-4230-A561-FB6B87273254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1924050" cy="1790700"/>
          </a:xfrm>
          <a:prstGeom prst="roundRect">
            <a:avLst>
              <a:gd name="adj" fmla="val 6383"/>
            </a:avLst>
          </a:prstGeom>
          <a:solidFill>
            <a:srgbClr val="EAF4FB"/>
          </a:solidFill>
          <a:ln w="9525">
            <a:solidFill>
              <a:srgbClr val="D8E4ED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DBC898-0A1D-4428-B3EE-B88FD97ADF7B}"/>
              </a:ext>
            </a:extLst>
          </p:cNvPr>
          <p:cNvSpPr>
            <a:spLocks noGrp="1"/>
          </p:cNvSpPr>
          <p:nvPr/>
        </p:nvSpPr>
        <p:spPr>
          <a:xfrm>
            <a:off x="857250" y="2628900"/>
            <a:ext cx="15716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D5578"/>
                </a:solidFill>
              </a:defRPr>
            </a:pPr>
            <a:r>
              <a:rPr sz="1575" b="1">
                <a:solidFill>
                  <a:srgbClr val="1D5578"/>
                </a:solidFill>
              </a:rPr>
              <a:t>Customer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774801-DD77-4502-8294-F53DD8AF58EE}"/>
              </a:ext>
            </a:extLst>
          </p:cNvPr>
          <p:cNvSpPr>
            <a:spLocks noGrp="1"/>
          </p:cNvSpPr>
          <p:nvPr/>
        </p:nvSpPr>
        <p:spPr>
          <a:xfrm>
            <a:off x="857250" y="3086100"/>
            <a:ext cx="1571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</a:rPr>
              <a:t>Customer code, DOB, city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0AFBC0C-8AC2-4B8A-A3EA-727192D26C01}"/>
              </a:ext>
            </a:extLst>
          </p:cNvPr>
          <p:cNvSpPr>
            <a:spLocks noGrp="1"/>
          </p:cNvSpPr>
          <p:nvPr/>
        </p:nvSpPr>
        <p:spPr>
          <a:xfrm>
            <a:off x="2838450" y="2381250"/>
            <a:ext cx="1924050" cy="1790700"/>
          </a:xfrm>
          <a:prstGeom prst="roundRect">
            <a:avLst>
              <a:gd name="adj" fmla="val 6383"/>
            </a:avLst>
          </a:prstGeom>
          <a:solidFill>
            <a:srgbClr val="EAF6F2"/>
          </a:solidFill>
          <a:ln w="9525">
            <a:solidFill>
              <a:srgbClr val="D8E4ED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ABF74C-F6DB-41C0-A081-62A259A32CF7}"/>
              </a:ext>
            </a:extLst>
          </p:cNvPr>
          <p:cNvSpPr>
            <a:spLocks noGrp="1"/>
          </p:cNvSpPr>
          <p:nvPr/>
        </p:nvSpPr>
        <p:spPr>
          <a:xfrm>
            <a:off x="3009900" y="2628900"/>
            <a:ext cx="15716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D5578"/>
                </a:solidFill>
              </a:defRPr>
            </a:pPr>
            <a:r>
              <a:rPr sz="1575" b="1">
                <a:solidFill>
                  <a:srgbClr val="1D5578"/>
                </a:solidFill>
              </a:rPr>
              <a:t>Premiums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55044F-18E7-4871-8766-D3F0FC14E8D3}"/>
              </a:ext>
            </a:extLst>
          </p:cNvPr>
          <p:cNvSpPr>
            <a:spLocks noGrp="1"/>
          </p:cNvSpPr>
          <p:nvPr/>
        </p:nvSpPr>
        <p:spPr>
          <a:xfrm>
            <a:off x="3009900" y="3086100"/>
            <a:ext cx="1571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</a:rPr>
              <a:t>Date, policy, sales mode, premium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F1AAE86-65AD-4BB1-BE58-C8B2FDB8AC76}"/>
              </a:ext>
            </a:extLst>
          </p:cNvPr>
          <p:cNvSpPr>
            <a:spLocks noGrp="1"/>
          </p:cNvSpPr>
          <p:nvPr/>
        </p:nvSpPr>
        <p:spPr>
          <a:xfrm>
            <a:off x="4991100" y="2381250"/>
            <a:ext cx="1924050" cy="1790700"/>
          </a:xfrm>
          <a:prstGeom prst="roundRect">
            <a:avLst>
              <a:gd name="adj" fmla="val 6383"/>
            </a:avLst>
          </a:prstGeom>
          <a:solidFill>
            <a:srgbClr val="FDF1E7"/>
          </a:solidFill>
          <a:ln w="9525">
            <a:solidFill>
              <a:srgbClr val="D8E4ED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2AFF16-59CB-4B07-B241-D927C3A312EC}"/>
              </a:ext>
            </a:extLst>
          </p:cNvPr>
          <p:cNvSpPr>
            <a:spLocks noGrp="1"/>
          </p:cNvSpPr>
          <p:nvPr/>
        </p:nvSpPr>
        <p:spPr>
          <a:xfrm>
            <a:off x="5162550" y="2628900"/>
            <a:ext cx="15716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D5578"/>
                </a:solidFill>
              </a:defRPr>
            </a:pPr>
            <a:r>
              <a:rPr sz="1575" b="1">
                <a:solidFill>
                  <a:srgbClr val="1D5578"/>
                </a:solidFill>
              </a:rPr>
              <a:t>Policies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1D508-D071-4F97-AEBC-36D07C80987A}"/>
              </a:ext>
            </a:extLst>
          </p:cNvPr>
          <p:cNvSpPr>
            <a:spLocks noGrp="1"/>
          </p:cNvSpPr>
          <p:nvPr/>
        </p:nvSpPr>
        <p:spPr>
          <a:xfrm>
            <a:off x="5162550" y="3086100"/>
            <a:ext cx="1571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</a:rPr>
              <a:t>Base premium and coverage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7676728-48EF-4782-9635-50D8CF22588D}"/>
              </a:ext>
            </a:extLst>
          </p:cNvPr>
          <p:cNvSpPr>
            <a:spLocks noGrp="1"/>
          </p:cNvSpPr>
          <p:nvPr/>
        </p:nvSpPr>
        <p:spPr>
          <a:xfrm>
            <a:off x="7143750" y="2381250"/>
            <a:ext cx="1924050" cy="1790700"/>
          </a:xfrm>
          <a:prstGeom prst="roundRect">
            <a:avLst>
              <a:gd name="adj" fmla="val 6383"/>
            </a:avLst>
          </a:prstGeom>
          <a:solidFill>
            <a:srgbClr val="EAF4FB"/>
          </a:solidFill>
          <a:ln w="9525">
            <a:solidFill>
              <a:srgbClr val="D8E4ED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D76810-B86B-4768-BC05-3671509658D1}"/>
              </a:ext>
            </a:extLst>
          </p:cNvPr>
          <p:cNvSpPr>
            <a:spLocks noGrp="1"/>
          </p:cNvSpPr>
          <p:nvPr/>
        </p:nvSpPr>
        <p:spPr>
          <a:xfrm>
            <a:off x="7315200" y="2628900"/>
            <a:ext cx="15716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D5578"/>
                </a:solidFill>
              </a:defRPr>
            </a:pPr>
            <a:r>
              <a:rPr sz="1575" b="1">
                <a:solidFill>
                  <a:srgbClr val="1D5578"/>
                </a:solidFill>
              </a:rPr>
              <a:t>Settlements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F673E9-FEE1-4886-8CA6-E91B64F0FB15}"/>
              </a:ext>
            </a:extLst>
          </p:cNvPr>
          <p:cNvSpPr>
            <a:spLocks noGrp="1"/>
          </p:cNvSpPr>
          <p:nvPr/>
        </p:nvSpPr>
        <p:spPr>
          <a:xfrm>
            <a:off x="7315200" y="3086100"/>
            <a:ext cx="1571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</a:rPr>
              <a:t>Age-based settlement percentage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D49CD9D-4079-4BB2-9C99-ECE4D05B3AD0}"/>
              </a:ext>
            </a:extLst>
          </p:cNvPr>
          <p:cNvSpPr>
            <a:spLocks noGrp="1"/>
          </p:cNvSpPr>
          <p:nvPr/>
        </p:nvSpPr>
        <p:spPr>
          <a:xfrm>
            <a:off x="9296400" y="2381250"/>
            <a:ext cx="1924050" cy="1790700"/>
          </a:xfrm>
          <a:prstGeom prst="roundRect">
            <a:avLst>
              <a:gd name="adj" fmla="val 6383"/>
            </a:avLst>
          </a:prstGeom>
          <a:solidFill>
            <a:srgbClr val="EAF6F2"/>
          </a:solidFill>
          <a:ln w="9525">
            <a:solidFill>
              <a:srgbClr val="D8E4ED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928248-6BCC-4831-A097-9C397E0E3888}"/>
              </a:ext>
            </a:extLst>
          </p:cNvPr>
          <p:cNvSpPr>
            <a:spLocks noGrp="1"/>
          </p:cNvSpPr>
          <p:nvPr/>
        </p:nvSpPr>
        <p:spPr>
          <a:xfrm>
            <a:off x="9467850" y="2628900"/>
            <a:ext cx="15716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D5578"/>
                </a:solidFill>
              </a:defRPr>
            </a:pPr>
            <a:r>
              <a:rPr sz="1575" b="1">
                <a:solidFill>
                  <a:srgbClr val="1D5578"/>
                </a:solidFill>
              </a:rPr>
              <a:t>Date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D8580B-7F66-4FA1-9105-65F85B2FFF82}"/>
              </a:ext>
            </a:extLst>
          </p:cNvPr>
          <p:cNvSpPr>
            <a:spLocks noGrp="1"/>
          </p:cNvSpPr>
          <p:nvPr/>
        </p:nvSpPr>
        <p:spPr>
          <a:xfrm>
            <a:off x="9467850" y="3086100"/>
            <a:ext cx="1571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1738A"/>
                </a:solidFill>
              </a:defRPr>
            </a:pPr>
            <a:r>
              <a:rPr sz="1125" b="0">
                <a:solidFill>
                  <a:srgbClr val="61738A"/>
                </a:solidFill>
              </a:rPr>
              <a:t>Month, week and day analysis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730558-0F69-416B-A476-3B919344F439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1009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83B56"/>
                </a:solidFill>
              </a:defRPr>
            </a:pPr>
            <a:r>
              <a:rPr sz="1500" b="1">
                <a:solidFill>
                  <a:srgbClr val="183B56"/>
                </a:solidFill>
              </a:rPr>
              <a:t>Relationships allow filters such as City, Month, Age Group and Policy ID to update the same measures consistently.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CB1358-F041-411A-98C0-06E11F0E6FA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1738A"/>
                </a:solidFill>
              </a:defRPr>
            </a:pPr>
            <a:r>
              <a:rPr sz="750" b="0">
                <a:solidFill>
                  <a:srgbClr val="61738A"/>
                </a:solidFill>
              </a:rPr>
              <a:t>Insurance Analytics Dashboard  |  03</a:t>
            </a:r>
          </a:p>
        </p:txBody>
      </p:sp>
    </p:spTree>
    <p:extLst>
      <p:ext uri="{BB962C8B-B14F-4D97-AF65-F5344CB8AC3E}">
        <p14:creationId xmlns:p14="http://schemas.microsoft.com/office/powerpoint/2010/main" val="863918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213F498-6847-486B-B489-0CA3D07084E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F80C3"/>
                </a:solidFill>
              </a:defRPr>
            </a:pPr>
            <a:r>
              <a:rPr sz="900" b="1">
                <a:solidFill>
                  <a:srgbClr val="2F80C3"/>
                </a:solidFill>
              </a:rPr>
              <a:t>ANALYSIS APPROACH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D02449-87EE-4B89-86EA-3850F5840576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D5578"/>
                </a:solidFill>
              </a:defRPr>
            </a:pPr>
            <a:r>
              <a:rPr sz="2550" b="1">
                <a:solidFill>
                  <a:srgbClr val="1D5578"/>
                </a:solidFill>
              </a:rPr>
              <a:t>The dashboard uses business measures—not raw columns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EF46EF-9C73-4776-A142-686F771868C1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09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1738A"/>
                </a:solidFill>
              </a:defRPr>
            </a:pPr>
            <a:r>
              <a:rPr sz="1275" b="0">
                <a:solidFill>
                  <a:srgbClr val="61738A"/>
                </a:solidFill>
              </a:rPr>
              <a:t>Each KPI answers a direct business question.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05C4B8-6ED7-47E8-A97C-42D1366B22CB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19050"/>
          </a:xfrm>
          <a:prstGeom prst="rect">
            <a:avLst/>
          </a:prstGeom>
          <a:solidFill>
            <a:srgbClr val="D8E4ED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B9E5EE-9703-4180-9780-6E311BB2FCDE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80C3"/>
                </a:solidFill>
              </a:defRPr>
            </a:pPr>
            <a:r>
              <a:rPr sz="1200" b="1">
                <a:solidFill>
                  <a:srgbClr val="2F80C3"/>
                </a:solidFill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C22812-21D2-4B8B-B3AC-06BA827444FB}"/>
              </a:ext>
            </a:extLst>
          </p:cNvPr>
          <p:cNvSpPr>
            <a:spLocks noGrp="1"/>
          </p:cNvSpPr>
          <p:nvPr/>
        </p:nvSpPr>
        <p:spPr>
          <a:xfrm>
            <a:off x="1352550" y="209550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D5578"/>
                </a:solidFill>
              </a:defRPr>
            </a:pPr>
            <a:r>
              <a:rPr sz="1500" b="1">
                <a:solidFill>
                  <a:srgbClr val="1D5578"/>
                </a:solidFill>
              </a:rPr>
              <a:t>Total Customers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9FF0FE-C3EA-4B4B-B7C3-8AAFD3EA0486}"/>
              </a:ext>
            </a:extLst>
          </p:cNvPr>
          <p:cNvSpPr>
            <a:spLocks noGrp="1"/>
          </p:cNvSpPr>
          <p:nvPr/>
        </p:nvSpPr>
        <p:spPr>
          <a:xfrm>
            <a:off x="4762500" y="209550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1738A"/>
                </a:solidFill>
              </a:defRPr>
            </a:pPr>
            <a:r>
              <a:rPr sz="1350" b="0">
                <a:solidFill>
                  <a:srgbClr val="61738A"/>
                </a:solidFill>
              </a:rPr>
              <a:t>Distinct customers who purchased a policy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28D12E-0262-489A-BBC5-B360B5D3EB23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10820400" cy="9525"/>
          </a:xfrm>
          <a:prstGeom prst="rect">
            <a:avLst/>
          </a:prstGeom>
          <a:solidFill>
            <a:srgbClr val="D8E4ED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7EFB64-9FD9-45E0-BC46-BD2030CD0E74}"/>
              </a:ext>
            </a:extLst>
          </p:cNvPr>
          <p:cNvSpPr>
            <a:spLocks noGrp="1"/>
          </p:cNvSpPr>
          <p:nvPr/>
        </p:nvSpPr>
        <p:spPr>
          <a:xfrm>
            <a:off x="800100" y="2762250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80C3"/>
                </a:solidFill>
              </a:defRPr>
            </a:pPr>
            <a:r>
              <a:rPr sz="1200" b="1">
                <a:solidFill>
                  <a:srgbClr val="2F80C3"/>
                </a:solidFill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5135C4-5E57-4D9E-8402-8735AB48DFC9}"/>
              </a:ext>
            </a:extLst>
          </p:cNvPr>
          <p:cNvSpPr>
            <a:spLocks noGrp="1"/>
          </p:cNvSpPr>
          <p:nvPr/>
        </p:nvSpPr>
        <p:spPr>
          <a:xfrm>
            <a:off x="1352550" y="27622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D5578"/>
                </a:solidFill>
              </a:defRPr>
            </a:pPr>
            <a:r>
              <a:rPr sz="1500" b="1">
                <a:solidFill>
                  <a:srgbClr val="1D5578"/>
                </a:solidFill>
              </a:rPr>
              <a:t>Total Revenue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A5CBDD-5ABF-4B41-BC66-8A108C483459}"/>
              </a:ext>
            </a:extLst>
          </p:cNvPr>
          <p:cNvSpPr>
            <a:spLocks noGrp="1"/>
          </p:cNvSpPr>
          <p:nvPr/>
        </p:nvSpPr>
        <p:spPr>
          <a:xfrm>
            <a:off x="4762500" y="276225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1738A"/>
                </a:solidFill>
              </a:defRPr>
            </a:pPr>
            <a:r>
              <a:rPr sz="1350" b="0">
                <a:solidFill>
                  <a:srgbClr val="61738A"/>
                </a:solidFill>
              </a:rPr>
              <a:t>Sum of final premium amount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BD3EC1-F37D-4BDA-BE32-E44B26EF7B69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0820400" cy="9525"/>
          </a:xfrm>
          <a:prstGeom prst="rect">
            <a:avLst/>
          </a:prstGeom>
          <a:solidFill>
            <a:srgbClr val="D8E4ED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23A06D-5018-4B82-9627-4B8342DB8F15}"/>
              </a:ext>
            </a:extLst>
          </p:cNvPr>
          <p:cNvSpPr>
            <a:spLocks noGrp="1"/>
          </p:cNvSpPr>
          <p:nvPr/>
        </p:nvSpPr>
        <p:spPr>
          <a:xfrm>
            <a:off x="800100" y="3429000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80C3"/>
                </a:solidFill>
              </a:defRPr>
            </a:pPr>
            <a:r>
              <a:rPr sz="1200" b="1">
                <a:solidFill>
                  <a:srgbClr val="2F80C3"/>
                </a:solidFill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74B8BC-8066-49D9-A70C-FCFD0CB99D69}"/>
              </a:ext>
            </a:extLst>
          </p:cNvPr>
          <p:cNvSpPr>
            <a:spLocks noGrp="1"/>
          </p:cNvSpPr>
          <p:nvPr/>
        </p:nvSpPr>
        <p:spPr>
          <a:xfrm>
            <a:off x="1352550" y="342900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D5578"/>
                </a:solidFill>
              </a:defRPr>
            </a:pPr>
            <a:r>
              <a:rPr sz="1500" b="1">
                <a:solidFill>
                  <a:srgbClr val="1D5578"/>
                </a:solidFill>
              </a:rPr>
              <a:t>Daily Growth 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F1B6A3-4557-4D6C-B0E3-861C7EC6F288}"/>
              </a:ext>
            </a:extLst>
          </p:cNvPr>
          <p:cNvSpPr>
            <a:spLocks noGrp="1"/>
          </p:cNvSpPr>
          <p:nvPr/>
        </p:nvSpPr>
        <p:spPr>
          <a:xfrm>
            <a:off x="4762500" y="342900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1738A"/>
                </a:solidFill>
              </a:defRPr>
            </a:pPr>
            <a:r>
              <a:rPr sz="1350" b="0">
                <a:solidFill>
                  <a:srgbClr val="61738A"/>
                </a:solidFill>
              </a:rPr>
              <a:t>Current day versus previous day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A3E0A4-36A2-4D50-8799-B7138FE8F7BF}"/>
              </a:ext>
            </a:extLst>
          </p:cNvPr>
          <p:cNvSpPr>
            <a:spLocks noGrp="1"/>
          </p:cNvSpPr>
          <p:nvPr/>
        </p:nvSpPr>
        <p:spPr>
          <a:xfrm>
            <a:off x="685800" y="3867150"/>
            <a:ext cx="10820400" cy="9525"/>
          </a:xfrm>
          <a:prstGeom prst="rect">
            <a:avLst/>
          </a:prstGeom>
          <a:solidFill>
            <a:srgbClr val="D8E4ED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7AB0CA-8969-48B5-9C87-9EB0AC57FAA8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80C3"/>
                </a:solidFill>
              </a:defRPr>
            </a:pPr>
            <a:r>
              <a:rPr sz="1200" b="1">
                <a:solidFill>
                  <a:srgbClr val="2F80C3"/>
                </a:solidFill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AB1B59-7733-4239-9EDF-D97CC41FE781}"/>
              </a:ext>
            </a:extLst>
          </p:cNvPr>
          <p:cNvSpPr>
            <a:spLocks noGrp="1"/>
          </p:cNvSpPr>
          <p:nvPr/>
        </p:nvSpPr>
        <p:spPr>
          <a:xfrm>
            <a:off x="1352550" y="40957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D5578"/>
                </a:solidFill>
              </a:defRPr>
            </a:pPr>
            <a:r>
              <a:rPr sz="1500" b="1">
                <a:solidFill>
                  <a:srgbClr val="1D5578"/>
                </a:solidFill>
              </a:rPr>
              <a:t>Policy MoM Growth 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86D1ED-06F0-49FE-BDE1-1293429E3C56}"/>
              </a:ext>
            </a:extLst>
          </p:cNvPr>
          <p:cNvSpPr>
            <a:spLocks noGrp="1"/>
          </p:cNvSpPr>
          <p:nvPr/>
        </p:nvSpPr>
        <p:spPr>
          <a:xfrm>
            <a:off x="4762500" y="409575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1738A"/>
                </a:solidFill>
              </a:defRPr>
            </a:pPr>
            <a:r>
              <a:rPr sz="1350" b="0">
                <a:solidFill>
                  <a:srgbClr val="61738A"/>
                </a:solidFill>
              </a:rPr>
              <a:t>Policy sales versus prior month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1C2908-FBE6-45E4-ADD8-A40FA6DB942F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10820400" cy="9525"/>
          </a:xfrm>
          <a:prstGeom prst="rect">
            <a:avLst/>
          </a:prstGeom>
          <a:solidFill>
            <a:srgbClr val="D8E4ED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7B002E-9BD7-47B7-AB36-83E2AB0A9F52}"/>
              </a:ext>
            </a:extLst>
          </p:cNvPr>
          <p:cNvSpPr>
            <a:spLocks noGrp="1"/>
          </p:cNvSpPr>
          <p:nvPr/>
        </p:nvSpPr>
        <p:spPr>
          <a:xfrm>
            <a:off x="800100" y="4762500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80C3"/>
                </a:solidFill>
              </a:defRPr>
            </a:pPr>
            <a:r>
              <a:rPr sz="1200" b="1">
                <a:solidFill>
                  <a:srgbClr val="2F80C3"/>
                </a:solidFill>
              </a:rPr>
              <a:t>05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7D3AA1-8F5F-43F4-8373-7489249366F5}"/>
              </a:ext>
            </a:extLst>
          </p:cNvPr>
          <p:cNvSpPr>
            <a:spLocks noGrp="1"/>
          </p:cNvSpPr>
          <p:nvPr/>
        </p:nvSpPr>
        <p:spPr>
          <a:xfrm>
            <a:off x="1352550" y="476250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D5578"/>
                </a:solidFill>
              </a:defRPr>
            </a:pPr>
            <a:r>
              <a:rPr sz="1500" b="1">
                <a:solidFill>
                  <a:srgbClr val="1D5578"/>
                </a:solidFill>
              </a:rPr>
              <a:t>Expected Settlement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6DD67E-D1B8-4F9C-8CFF-1FE2E5FA3ED1}"/>
              </a:ext>
            </a:extLst>
          </p:cNvPr>
          <p:cNvSpPr>
            <a:spLocks noGrp="1"/>
          </p:cNvSpPr>
          <p:nvPr/>
        </p:nvSpPr>
        <p:spPr>
          <a:xfrm>
            <a:off x="4762500" y="476250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1738A"/>
                </a:solidFill>
              </a:defRPr>
            </a:pPr>
            <a:r>
              <a:rPr sz="1350" b="0">
                <a:solidFill>
                  <a:srgbClr val="61738A"/>
                </a:solidFill>
              </a:rPr>
              <a:t>Base coverage × settlement percentage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C47A4E-8C6E-4912-BE5E-4F0176E55206}"/>
              </a:ext>
            </a:extLst>
          </p:cNvPr>
          <p:cNvSpPr>
            <a:spLocks noGrp="1"/>
          </p:cNvSpPr>
          <p:nvPr/>
        </p:nvSpPr>
        <p:spPr>
          <a:xfrm>
            <a:off x="685800" y="5200650"/>
            <a:ext cx="10820400" cy="9525"/>
          </a:xfrm>
          <a:prstGeom prst="rect">
            <a:avLst/>
          </a:prstGeom>
          <a:solidFill>
            <a:srgbClr val="D8E4ED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301C4D-2D51-474C-90E6-E041FD8F3A34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1738A"/>
                </a:solidFill>
              </a:defRPr>
            </a:pPr>
            <a:r>
              <a:rPr sz="750" b="0">
                <a:solidFill>
                  <a:srgbClr val="61738A"/>
                </a:solidFill>
              </a:rPr>
              <a:t>Insurance Analytics Dashboard  |  04</a:t>
            </a:r>
          </a:p>
        </p:txBody>
      </p:sp>
    </p:spTree>
    <p:extLst>
      <p:ext uri="{BB962C8B-B14F-4D97-AF65-F5344CB8AC3E}">
        <p14:creationId xmlns:p14="http://schemas.microsoft.com/office/powerpoint/2010/main" val="1333010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441091B-5746-48D7-A5B6-5B18BC24B77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F80C3"/>
                </a:solidFill>
              </a:defRPr>
            </a:pPr>
            <a:r>
              <a:rPr sz="900" b="1">
                <a:solidFill>
                  <a:srgbClr val="2F80C3"/>
                </a:solidFill>
              </a:rPr>
              <a:t>DASHBOARD 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2868B9-B779-4791-9CB3-D7449DA8F78D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D5578"/>
                </a:solidFill>
              </a:defRPr>
            </a:pPr>
            <a:r>
              <a:rPr sz="2550" b="1">
                <a:solidFill>
                  <a:srgbClr val="1D5578"/>
                </a:solidFill>
              </a:rPr>
              <a:t>Two report pages turn analysis into decisions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65C142-CDBC-44A4-99C0-F6DC1BCE2A79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09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1738A"/>
                </a:solidFill>
              </a:defRPr>
            </a:pPr>
            <a:r>
              <a:rPr sz="1275" b="0">
                <a:solidFill>
                  <a:srgbClr val="61738A"/>
                </a:solidFill>
              </a:rPr>
              <a:t>The report was designed so a stakeholder can start broad, then move to age-specific decisions.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F01C4B-92AB-4CF0-85DD-43EFEBA798C9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19050"/>
          </a:xfrm>
          <a:prstGeom prst="rect">
            <a:avLst/>
          </a:prstGeom>
          <a:solidFill>
            <a:srgbClr val="D8E4ED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B588321-E2ED-490C-9380-D60E6808C648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4857750" cy="3219450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9525">
            <a:solidFill>
              <a:srgbClr val="D8E4ED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765CA5-1A2A-4F57-9A3F-34D250FF79CD}"/>
              </a:ext>
            </a:extLst>
          </p:cNvPr>
          <p:cNvSpPr>
            <a:spLocks noGrp="1"/>
          </p:cNvSpPr>
          <p:nvPr/>
        </p:nvSpPr>
        <p:spPr>
          <a:xfrm>
            <a:off x="952500" y="238125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D5578"/>
                </a:solidFill>
              </a:defRPr>
            </a:pPr>
            <a:r>
              <a:rPr sz="1650" b="1">
                <a:solidFill>
                  <a:srgbClr val="1D5578"/>
                </a:solidFill>
              </a:rPr>
              <a:t>01  Insurance Performance Overview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87A029-5126-4E5A-985D-79BDF3037894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6A69A"/>
                </a:solidFill>
              </a:defRPr>
            </a:pPr>
            <a:r>
              <a:rPr sz="1650" b="1">
                <a:solidFill>
                  <a:srgbClr val="26A69A"/>
                </a:solidFill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DF85E3-9DC2-4769-9759-ED2FFCD2058D}"/>
              </a:ext>
            </a:extLst>
          </p:cNvPr>
          <p:cNvSpPr>
            <a:spLocks noGrp="1"/>
          </p:cNvSpPr>
          <p:nvPr/>
        </p:nvSpPr>
        <p:spPr>
          <a:xfrm>
            <a:off x="1190625" y="295275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83B56"/>
                </a:solidFill>
              </a:defRPr>
            </a:pPr>
            <a:r>
              <a:rPr sz="1200" b="0">
                <a:solidFill>
                  <a:srgbClr val="183B56"/>
                </a:solidFill>
              </a:rPr>
              <a:t>KPI cards for customers, revenue and growth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95927-55C0-420F-BDE4-E6D2EA023691}"/>
              </a:ext>
            </a:extLst>
          </p:cNvPr>
          <p:cNvSpPr>
            <a:spLocks noGrp="1"/>
          </p:cNvSpPr>
          <p:nvPr/>
        </p:nvSpPr>
        <p:spPr>
          <a:xfrm>
            <a:off x="952500" y="34099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6A69A"/>
                </a:solidFill>
              </a:defRPr>
            </a:pPr>
            <a:r>
              <a:rPr sz="1650" b="1">
                <a:solidFill>
                  <a:srgbClr val="26A69A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A70E4C-4DC5-4D1A-BC8D-0AE2AA206DD5}"/>
              </a:ext>
            </a:extLst>
          </p:cNvPr>
          <p:cNvSpPr>
            <a:spLocks noGrp="1"/>
          </p:cNvSpPr>
          <p:nvPr/>
        </p:nvSpPr>
        <p:spPr>
          <a:xfrm>
            <a:off x="1190625" y="340995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83B56"/>
                </a:solidFill>
              </a:defRPr>
            </a:pPr>
            <a:r>
              <a:rPr sz="1200" b="0">
                <a:solidFill>
                  <a:srgbClr val="183B56"/>
                </a:solidFill>
              </a:rPr>
              <a:t>Revenue/customer trend and policy MoM movement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8416CF-9A2A-41B5-BF1C-1629656A7C62}"/>
              </a:ext>
            </a:extLst>
          </p:cNvPr>
          <p:cNvSpPr>
            <a:spLocks noGrp="1"/>
          </p:cNvSpPr>
          <p:nvPr/>
        </p:nvSpPr>
        <p:spPr>
          <a:xfrm>
            <a:off x="952500" y="38671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6A69A"/>
                </a:solidFill>
              </a:defRPr>
            </a:pPr>
            <a:r>
              <a:rPr sz="1650" b="1">
                <a:solidFill>
                  <a:srgbClr val="26A69A"/>
                </a:solidFill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F8DE63-386C-4636-A7BA-10D58C374ABF}"/>
              </a:ext>
            </a:extLst>
          </p:cNvPr>
          <p:cNvSpPr>
            <a:spLocks noGrp="1"/>
          </p:cNvSpPr>
          <p:nvPr/>
        </p:nvSpPr>
        <p:spPr>
          <a:xfrm>
            <a:off x="1190625" y="386715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83B56"/>
                </a:solidFill>
              </a:defRPr>
            </a:pPr>
            <a:r>
              <a:rPr sz="1200" b="0">
                <a:solidFill>
                  <a:srgbClr val="183B56"/>
                </a:solidFill>
              </a:rPr>
              <a:t>City summary and age-group performance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7908D1D-2FBF-4CF2-9395-115F38D47D36}"/>
              </a:ext>
            </a:extLst>
          </p:cNvPr>
          <p:cNvSpPr>
            <a:spLocks noGrp="1"/>
          </p:cNvSpPr>
          <p:nvPr/>
        </p:nvSpPr>
        <p:spPr>
          <a:xfrm>
            <a:off x="5924550" y="2114550"/>
            <a:ext cx="5581650" cy="3219450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9525">
            <a:solidFill>
              <a:srgbClr val="D8E4E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CB0C07-3DA1-4340-856B-CBC0459D979B}"/>
              </a:ext>
            </a:extLst>
          </p:cNvPr>
          <p:cNvSpPr>
            <a:spLocks noGrp="1"/>
          </p:cNvSpPr>
          <p:nvPr/>
        </p:nvSpPr>
        <p:spPr>
          <a:xfrm>
            <a:off x="6191250" y="238125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D5578"/>
                </a:solidFill>
              </a:defRPr>
            </a:pPr>
            <a:r>
              <a:rPr sz="1650" b="1">
                <a:solidFill>
                  <a:srgbClr val="1D5578"/>
                </a:solidFill>
              </a:rPr>
              <a:t>02  Age Group Analysis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7A827D-15BE-4532-B39F-B8202284AC23}"/>
              </a:ext>
            </a:extLst>
          </p:cNvPr>
          <p:cNvSpPr>
            <a:spLocks noGrp="1"/>
          </p:cNvSpPr>
          <p:nvPr/>
        </p:nvSpPr>
        <p:spPr>
          <a:xfrm>
            <a:off x="6191250" y="29527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6A69A"/>
                </a:solidFill>
              </a:defRPr>
            </a:pPr>
            <a:r>
              <a:rPr sz="1650" b="1">
                <a:solidFill>
                  <a:srgbClr val="26A69A"/>
                </a:solidFill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C5DFAC-8A74-4A30-ABDE-EDB00F0DED8C}"/>
              </a:ext>
            </a:extLst>
          </p:cNvPr>
          <p:cNvSpPr>
            <a:spLocks noGrp="1"/>
          </p:cNvSpPr>
          <p:nvPr/>
        </p:nvSpPr>
        <p:spPr>
          <a:xfrm>
            <a:off x="6429375" y="2952750"/>
            <a:ext cx="423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83B56"/>
                </a:solidFill>
              </a:defRPr>
            </a:pPr>
            <a:r>
              <a:rPr sz="1200" b="0">
                <a:solidFill>
                  <a:srgbClr val="183B56"/>
                </a:solidFill>
              </a:rPr>
              <a:t>Expected settlement by age group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71EE8B-6F42-429A-B978-20F03D8EAF6C}"/>
              </a:ext>
            </a:extLst>
          </p:cNvPr>
          <p:cNvSpPr>
            <a:spLocks noGrp="1"/>
          </p:cNvSpPr>
          <p:nvPr/>
        </p:nvSpPr>
        <p:spPr>
          <a:xfrm>
            <a:off x="6191250" y="34099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6A69A"/>
                </a:solidFill>
              </a:defRPr>
            </a:pPr>
            <a:r>
              <a:rPr sz="1650" b="1">
                <a:solidFill>
                  <a:srgbClr val="26A69A"/>
                </a:solidFill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1E170C-BE72-4B39-BBD6-FF7D41D44EF6}"/>
              </a:ext>
            </a:extLst>
          </p:cNvPr>
          <p:cNvSpPr>
            <a:spLocks noGrp="1"/>
          </p:cNvSpPr>
          <p:nvPr/>
        </p:nvSpPr>
        <p:spPr>
          <a:xfrm>
            <a:off x="6429375" y="3409950"/>
            <a:ext cx="423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83B56"/>
                </a:solidFill>
              </a:defRPr>
            </a:pPr>
            <a:r>
              <a:rPr sz="1200" b="0">
                <a:solidFill>
                  <a:srgbClr val="183B56"/>
                </a:solidFill>
              </a:rPr>
              <a:t>Revenue and customers on separate scales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1F8E7E-0578-47F2-BCA9-40F1DDEBFA1C}"/>
              </a:ext>
            </a:extLst>
          </p:cNvPr>
          <p:cNvSpPr>
            <a:spLocks noGrp="1"/>
          </p:cNvSpPr>
          <p:nvPr/>
        </p:nvSpPr>
        <p:spPr>
          <a:xfrm>
            <a:off x="6191250" y="38671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6A69A"/>
                </a:solidFill>
              </a:defRPr>
            </a:pPr>
            <a:r>
              <a:rPr sz="1650" b="1">
                <a:solidFill>
                  <a:srgbClr val="26A69A"/>
                </a:solidFill>
              </a:rPr>
              <a:t>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A75AE7-1591-4BC0-AD73-933C1A5C3C37}"/>
              </a:ext>
            </a:extLst>
          </p:cNvPr>
          <p:cNvSpPr>
            <a:spLocks noGrp="1"/>
          </p:cNvSpPr>
          <p:nvPr/>
        </p:nvSpPr>
        <p:spPr>
          <a:xfrm>
            <a:off x="6429375" y="3867150"/>
            <a:ext cx="423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83B56"/>
                </a:solidFill>
              </a:defRPr>
            </a:pPr>
            <a:r>
              <a:rPr sz="1200" b="0">
                <a:solidFill>
                  <a:srgbClr val="183B56"/>
                </a:solidFill>
              </a:rPr>
              <a:t>Sales-mode and policy preference by age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43CC2B-B6C9-4BF4-B1D3-B229CDF977E4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1738A"/>
                </a:solidFill>
              </a:defRPr>
            </a:pPr>
            <a:r>
              <a:rPr sz="750" b="0">
                <a:solidFill>
                  <a:srgbClr val="61738A"/>
                </a:solidFill>
              </a:rPr>
              <a:t>Insurance Analytics Dashboard  |  05</a:t>
            </a:r>
          </a:p>
        </p:txBody>
      </p:sp>
    </p:spTree>
    <p:extLst>
      <p:ext uri="{BB962C8B-B14F-4D97-AF65-F5344CB8AC3E}">
        <p14:creationId xmlns:p14="http://schemas.microsoft.com/office/powerpoint/2010/main" val="761567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C1B709F-930E-4F3C-9630-F17607FB4B7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F80C3"/>
                </a:solidFill>
              </a:defRPr>
            </a:pPr>
            <a:r>
              <a:rPr sz="900" b="1">
                <a:solidFill>
                  <a:srgbClr val="2F80C3"/>
                </a:solidFill>
              </a:rPr>
              <a:t>PERFORMANCE SNAPSHOT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208C1F-7454-4AEB-99F2-7A99DBD0A314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D5578"/>
                </a:solidFill>
              </a:defRPr>
            </a:pPr>
            <a:r>
              <a:rPr sz="2250" b="1">
                <a:solidFill>
                  <a:srgbClr val="1D5578"/>
                </a:solidFill>
              </a:rPr>
              <a:t>26,841 customers and INR 989.3M revenue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67839A-A3D3-478A-A429-D039C050B504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09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1738A"/>
                </a:solidFill>
              </a:defRPr>
            </a:pPr>
            <a:r>
              <a:rPr sz="1275" b="0">
                <a:solidFill>
                  <a:srgbClr val="61738A"/>
                </a:solidFill>
              </a:rPr>
              <a:t>The dashboard gives leaders a quick starting point before they drill down.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D35CAC-8DDB-4F0F-A3B8-C982AE19A435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19050"/>
          </a:xfrm>
          <a:prstGeom prst="rect">
            <a:avLst/>
          </a:prstGeom>
          <a:solidFill>
            <a:srgbClr val="D8E4ED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045178A-5260-49B3-B0D2-19B0FFA11D1D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2428875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8E4ED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69FDD3-2813-45D6-9C3E-3F5447F220DB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76200" cy="1047750"/>
          </a:xfrm>
          <a:prstGeom prst="rect">
            <a:avLst/>
          </a:prstGeom>
          <a:solidFill>
            <a:srgbClr val="2F80C3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5C3BD5-EC88-4F43-8B0B-F732D874DF2A}"/>
              </a:ext>
            </a:extLst>
          </p:cNvPr>
          <p:cNvSpPr>
            <a:spLocks noGrp="1"/>
          </p:cNvSpPr>
          <p:nvPr/>
        </p:nvSpPr>
        <p:spPr>
          <a:xfrm>
            <a:off x="914400" y="2276475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1738A"/>
                </a:solidFill>
              </a:defRPr>
            </a:pPr>
            <a:r>
              <a:rPr sz="1050" b="1">
                <a:solidFill>
                  <a:srgbClr val="61738A"/>
                </a:solidFill>
              </a:rPr>
              <a:t>TOTAL CUSTOMERS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F22D58-8A30-4C06-BA7C-26082DD93DD2}"/>
              </a:ext>
            </a:extLst>
          </p:cNvPr>
          <p:cNvSpPr>
            <a:spLocks noGrp="1"/>
          </p:cNvSpPr>
          <p:nvPr/>
        </p:nvSpPr>
        <p:spPr>
          <a:xfrm>
            <a:off x="914400" y="2552700"/>
            <a:ext cx="2047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D5578"/>
                </a:solidFill>
              </a:defRPr>
            </a:pPr>
            <a:r>
              <a:rPr sz="2025" b="1">
                <a:solidFill>
                  <a:srgbClr val="1D5578"/>
                </a:solidFill>
              </a:rPr>
              <a:t>26,841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68990BE-2EDC-40EA-8734-A4F386E0CEB0}"/>
              </a:ext>
            </a:extLst>
          </p:cNvPr>
          <p:cNvSpPr>
            <a:spLocks noGrp="1"/>
          </p:cNvSpPr>
          <p:nvPr/>
        </p:nvSpPr>
        <p:spPr>
          <a:xfrm>
            <a:off x="3333750" y="2076450"/>
            <a:ext cx="276225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8E4ED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3A483C-905B-4636-8AB8-93E110A2C9B5}"/>
              </a:ext>
            </a:extLst>
          </p:cNvPr>
          <p:cNvSpPr>
            <a:spLocks noGrp="1"/>
          </p:cNvSpPr>
          <p:nvPr/>
        </p:nvSpPr>
        <p:spPr>
          <a:xfrm>
            <a:off x="3333750" y="2076450"/>
            <a:ext cx="76200" cy="1047750"/>
          </a:xfrm>
          <a:prstGeom prst="rect">
            <a:avLst/>
          </a:prstGeom>
          <a:solidFill>
            <a:srgbClr val="70A84B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0B437C-46EB-4345-B62A-26322F2BED09}"/>
              </a:ext>
            </a:extLst>
          </p:cNvPr>
          <p:cNvSpPr>
            <a:spLocks noGrp="1"/>
          </p:cNvSpPr>
          <p:nvPr/>
        </p:nvSpPr>
        <p:spPr>
          <a:xfrm>
            <a:off x="3562350" y="2276475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1738A"/>
                </a:solidFill>
              </a:defRPr>
            </a:pPr>
            <a:r>
              <a:rPr sz="1050" b="1">
                <a:solidFill>
                  <a:srgbClr val="61738A"/>
                </a:solidFill>
              </a:rPr>
              <a:t>TOTAL REVENUE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69FDCF-6341-498C-8EA6-840D95151DCD}"/>
              </a:ext>
            </a:extLst>
          </p:cNvPr>
          <p:cNvSpPr>
            <a:spLocks noGrp="1"/>
          </p:cNvSpPr>
          <p:nvPr/>
        </p:nvSpPr>
        <p:spPr>
          <a:xfrm>
            <a:off x="3562350" y="2552700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D5578"/>
                </a:solidFill>
              </a:defRPr>
            </a:pPr>
            <a:r>
              <a:rPr sz="2025" b="1">
                <a:solidFill>
                  <a:srgbClr val="1D5578"/>
                </a:solidFill>
              </a:rPr>
              <a:t>INR 989.3M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C3DDD76-F11D-495D-A2E9-985893B15160}"/>
              </a:ext>
            </a:extLst>
          </p:cNvPr>
          <p:cNvSpPr>
            <a:spLocks noGrp="1"/>
          </p:cNvSpPr>
          <p:nvPr/>
        </p:nvSpPr>
        <p:spPr>
          <a:xfrm>
            <a:off x="6334125" y="2076450"/>
            <a:ext cx="22860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8E4E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485442-08CD-498E-9EC1-E968D53E2DD5}"/>
              </a:ext>
            </a:extLst>
          </p:cNvPr>
          <p:cNvSpPr>
            <a:spLocks noGrp="1"/>
          </p:cNvSpPr>
          <p:nvPr/>
        </p:nvSpPr>
        <p:spPr>
          <a:xfrm>
            <a:off x="6334125" y="2076450"/>
            <a:ext cx="76200" cy="1047750"/>
          </a:xfrm>
          <a:prstGeom prst="rect">
            <a:avLst/>
          </a:prstGeom>
          <a:solidFill>
            <a:srgbClr val="E9833A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9674AE-1899-45B2-9C4E-5A946CFD3D24}"/>
              </a:ext>
            </a:extLst>
          </p:cNvPr>
          <p:cNvSpPr>
            <a:spLocks noGrp="1"/>
          </p:cNvSpPr>
          <p:nvPr/>
        </p:nvSpPr>
        <p:spPr>
          <a:xfrm>
            <a:off x="6562725" y="2276475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1738A"/>
                </a:solidFill>
              </a:defRPr>
            </a:pPr>
            <a:r>
              <a:rPr sz="1050" b="1">
                <a:solidFill>
                  <a:srgbClr val="61738A"/>
                </a:solidFill>
              </a:rPr>
              <a:t>TOP CITY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10B1A7-3694-4912-B1C0-CE7471F8E38C}"/>
              </a:ext>
            </a:extLst>
          </p:cNvPr>
          <p:cNvSpPr>
            <a:spLocks noGrp="1"/>
          </p:cNvSpPr>
          <p:nvPr/>
        </p:nvSpPr>
        <p:spPr>
          <a:xfrm>
            <a:off x="6562725" y="2552700"/>
            <a:ext cx="190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D5578"/>
                </a:solidFill>
              </a:defRPr>
            </a:pPr>
            <a:r>
              <a:rPr sz="2025" b="1">
                <a:solidFill>
                  <a:srgbClr val="1D5578"/>
                </a:solidFill>
              </a:rPr>
              <a:t>Delhi NCR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8DCB1F5-FD4D-4D42-9C8E-1201464D3163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10820400" cy="2381250"/>
          </a:xfrm>
          <a:prstGeom prst="roundRect">
            <a:avLst>
              <a:gd name="adj" fmla="val 4800"/>
            </a:avLst>
          </a:prstGeom>
          <a:solidFill>
            <a:srgbClr val="F4F8FB"/>
          </a:solidFill>
          <a:ln w="9525">
            <a:solidFill>
              <a:srgbClr val="D8E4ED"/>
            </a:solidFill>
            <a:prstDash val="solid"/>
          </a:ln>
        </p:spPr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rcRect t="25317" b="25317"/>
          <a:stretch>
            <a:fillRect/>
          </a:stretch>
        </p:blipFill>
        <p:spPr>
          <a:xfrm>
            <a:off x="838200" y="3638550"/>
            <a:ext cx="10515600" cy="2076450"/>
          </a:xfrm>
          <a:prstGeom prst="roundRect">
            <a:avLst>
              <a:gd name="adj" fmla="val 3670"/>
            </a:avLst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826BBB7-719A-4B60-9B85-D16081114130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1738A"/>
                </a:solidFill>
              </a:defRPr>
            </a:pPr>
            <a:r>
              <a:rPr sz="750" b="0">
                <a:solidFill>
                  <a:srgbClr val="61738A"/>
                </a:solidFill>
              </a:rPr>
              <a:t>Insurance Analytics Dashboard  |  06</a:t>
            </a:r>
          </a:p>
        </p:txBody>
      </p:sp>
    </p:spTree>
    <p:extLst>
      <p:ext uri="{BB962C8B-B14F-4D97-AF65-F5344CB8AC3E}">
        <p14:creationId xmlns:p14="http://schemas.microsoft.com/office/powerpoint/2010/main" val="1681867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8221435-C752-45DA-8C33-6A3328790B5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F80C3"/>
                </a:solidFill>
              </a:defRPr>
            </a:pPr>
            <a:r>
              <a:rPr sz="900" b="1">
                <a:solidFill>
                  <a:srgbClr val="2F80C3"/>
                </a:solidFill>
              </a:rPr>
              <a:t>CITY PERFORMANCE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87B35D-937B-4402-9B52-C7F12422D37F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D5578"/>
                </a:solidFill>
              </a:defRPr>
            </a:pPr>
            <a:r>
              <a:rPr sz="2550" b="1">
                <a:solidFill>
                  <a:srgbClr val="1D5578"/>
                </a:solidFill>
              </a:rPr>
              <a:t>Delhi NCR is the clear revenue leader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1E8EC8-8C3E-4624-BD55-89521E374AAD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09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1738A"/>
                </a:solidFill>
              </a:defRPr>
            </a:pPr>
            <a:r>
              <a:rPr sz="1275" b="0">
                <a:solidFill>
                  <a:srgbClr val="61738A"/>
                </a:solidFill>
              </a:rPr>
              <a:t>It generates about 41% of total revenue, so it should be protected and understood.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B5FE71-2857-4003-BC23-1DF334E4D26F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19050"/>
          </a:xfrm>
          <a:prstGeom prst="rect">
            <a:avLst/>
          </a:prstGeom>
          <a:solidFill>
            <a:srgbClr val="D8E4ED"/>
          </a:solidFill>
          <a:ln w="0">
            <a:noFill/>
            <a:prstDash val="solid"/>
          </a:ln>
        </p:spPr>
      </p:sp>
      <p:graphicFrame>
        <p:nvGraphicFramePr>
          <p:cNvPr id="19" name="Chart"/>
          <p:cNvGraphicFramePr/>
          <p:nvPr/>
        </p:nvGraphicFramePr>
        <p:xfrm>
          <a:off x="685800" y="2095500"/>
          <a:ext cx="666750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8CB5A6-1D98-42BF-BBAB-AB3489F585D5}"/>
              </a:ext>
            </a:extLst>
          </p:cNvPr>
          <p:cNvSpPr>
            <a:spLocks noGrp="1"/>
          </p:cNvSpPr>
          <p:nvPr/>
        </p:nvSpPr>
        <p:spPr>
          <a:xfrm>
            <a:off x="7810500" y="2381250"/>
            <a:ext cx="333375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8E4ED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664CA0-87A4-48B0-856F-B456FA46D459}"/>
              </a:ext>
            </a:extLst>
          </p:cNvPr>
          <p:cNvSpPr>
            <a:spLocks noGrp="1"/>
          </p:cNvSpPr>
          <p:nvPr/>
        </p:nvSpPr>
        <p:spPr>
          <a:xfrm>
            <a:off x="8096250" y="26479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D5578"/>
                </a:solidFill>
              </a:defRPr>
            </a:pPr>
            <a:r>
              <a:rPr sz="1650" b="1">
                <a:solidFill>
                  <a:srgbClr val="1D5578"/>
                </a:solidFill>
              </a:rPr>
              <a:t>What this tells us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EBE2C4-11BE-4127-8553-7EED92601256}"/>
              </a:ext>
            </a:extLst>
          </p:cNvPr>
          <p:cNvSpPr>
            <a:spLocks noGrp="1"/>
          </p:cNvSpPr>
          <p:nvPr/>
        </p:nvSpPr>
        <p:spPr>
          <a:xfrm>
            <a:off x="8096250" y="31432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6A69A"/>
                </a:solidFill>
              </a:defRPr>
            </a:pPr>
            <a:r>
              <a:rPr sz="1650" b="1">
                <a:solidFill>
                  <a:srgbClr val="26A69A"/>
                </a:solidFill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D1C4AF-8905-452B-BCA0-1B3E818B9F3A}"/>
              </a:ext>
            </a:extLst>
          </p:cNvPr>
          <p:cNvSpPr>
            <a:spLocks noGrp="1"/>
          </p:cNvSpPr>
          <p:nvPr/>
        </p:nvSpPr>
        <p:spPr>
          <a:xfrm>
            <a:off x="8334375" y="3143250"/>
            <a:ext cx="2333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3B56"/>
                </a:solidFill>
              </a:defRPr>
            </a:pPr>
            <a:r>
              <a:rPr sz="1275" b="0">
                <a:solidFill>
                  <a:srgbClr val="183B56"/>
                </a:solidFill>
              </a:rPr>
              <a:t>Delhi NCR: INR 401.6M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086937-C176-4056-B40A-339B21E940CC}"/>
              </a:ext>
            </a:extLst>
          </p:cNvPr>
          <p:cNvSpPr>
            <a:spLocks noGrp="1"/>
          </p:cNvSpPr>
          <p:nvPr/>
        </p:nvSpPr>
        <p:spPr>
          <a:xfrm>
            <a:off x="8096250" y="36004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6A69A"/>
                </a:solidFill>
              </a:defRPr>
            </a:pPr>
            <a:r>
              <a:rPr sz="1650" b="1">
                <a:solidFill>
                  <a:srgbClr val="26A69A"/>
                </a:solidFill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460872-5D6B-4CD0-A401-180EEDF571B2}"/>
              </a:ext>
            </a:extLst>
          </p:cNvPr>
          <p:cNvSpPr>
            <a:spLocks noGrp="1"/>
          </p:cNvSpPr>
          <p:nvPr/>
        </p:nvSpPr>
        <p:spPr>
          <a:xfrm>
            <a:off x="8334375" y="3600450"/>
            <a:ext cx="2333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3B56"/>
                </a:solidFill>
              </a:defRPr>
            </a:pPr>
            <a:r>
              <a:rPr sz="1275" b="0">
                <a:solidFill>
                  <a:srgbClr val="183B56"/>
                </a:solidFill>
              </a:rPr>
              <a:t>Mumbai: INR 239.5M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AE1ECD-F472-4E4A-B47E-7CA7E04512F2}"/>
              </a:ext>
            </a:extLst>
          </p:cNvPr>
          <p:cNvSpPr>
            <a:spLocks noGrp="1"/>
          </p:cNvSpPr>
          <p:nvPr/>
        </p:nvSpPr>
        <p:spPr>
          <a:xfrm>
            <a:off x="8096250" y="40576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6A69A"/>
                </a:solidFill>
              </a:defRPr>
            </a:pPr>
            <a:r>
              <a:rPr sz="1650" b="1">
                <a:solidFill>
                  <a:srgbClr val="26A69A"/>
                </a:solidFill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588EE8-7EE1-4689-9879-B5D22C5C7E46}"/>
              </a:ext>
            </a:extLst>
          </p:cNvPr>
          <p:cNvSpPr>
            <a:spLocks noGrp="1"/>
          </p:cNvSpPr>
          <p:nvPr/>
        </p:nvSpPr>
        <p:spPr>
          <a:xfrm>
            <a:off x="8334375" y="4057650"/>
            <a:ext cx="2333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3B56"/>
                </a:solidFill>
              </a:defRPr>
            </a:pPr>
            <a:r>
              <a:rPr sz="1275" b="0">
                <a:solidFill>
                  <a:srgbClr val="183B56"/>
                </a:solidFill>
              </a:rPr>
              <a:t>Top two cities = 64.8% of revenue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C90A47-8B1A-4218-9A68-630C5AC93A28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1738A"/>
                </a:solidFill>
              </a:defRPr>
            </a:pPr>
            <a:r>
              <a:rPr sz="750" b="0">
                <a:solidFill>
                  <a:srgbClr val="61738A"/>
                </a:solidFill>
              </a:rPr>
              <a:t>Insurance Analytics Dashboard  |  07</a:t>
            </a:r>
          </a:p>
        </p:txBody>
      </p:sp>
    </p:spTree>
    <p:extLst>
      <p:ext uri="{BB962C8B-B14F-4D97-AF65-F5344CB8AC3E}">
        <p14:creationId xmlns:p14="http://schemas.microsoft.com/office/powerpoint/2010/main" val="1967589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F1F84F6-7DE4-4E12-9C8C-86B64F28834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F80C3"/>
                </a:solidFill>
              </a:defRPr>
            </a:pPr>
            <a:r>
              <a:rPr sz="900" b="1">
                <a:solidFill>
                  <a:srgbClr val="2F80C3"/>
                </a:solidFill>
              </a:rPr>
              <a:t>TREND INSIGHT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156FF5-CD1C-4455-9EC5-5F193E178D01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D5578"/>
                </a:solidFill>
              </a:defRPr>
            </a:pPr>
            <a:r>
              <a:rPr sz="2550" b="1">
                <a:solidFill>
                  <a:srgbClr val="1D5578"/>
                </a:solidFill>
              </a:rPr>
              <a:t>March revenue was the high point; April needs attention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0BAC3D-13F1-41D8-955A-535370BE7037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09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1738A"/>
                </a:solidFill>
              </a:defRPr>
            </a:pPr>
            <a:r>
              <a:rPr sz="1275" b="0">
                <a:solidFill>
                  <a:srgbClr val="61738A"/>
                </a:solidFill>
              </a:rPr>
              <a:t>The revenue movement highlights a question for the business—not a conclusion to assume.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5E1FDC-BF7F-44AF-99E3-44C382BF1DF0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19050"/>
          </a:xfrm>
          <a:prstGeom prst="rect">
            <a:avLst/>
          </a:prstGeom>
          <a:solidFill>
            <a:srgbClr val="D8E4ED"/>
          </a:solidFill>
          <a:ln w="0">
            <a:noFill/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="685800" y="2190750"/>
          <a:ext cx="685800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640455-A6DC-4DCB-9FBD-1A687DD6D080}"/>
              </a:ext>
            </a:extLst>
          </p:cNvPr>
          <p:cNvSpPr>
            <a:spLocks noGrp="1"/>
          </p:cNvSpPr>
          <p:nvPr/>
        </p:nvSpPr>
        <p:spPr>
          <a:xfrm>
            <a:off x="8077200" y="2266950"/>
            <a:ext cx="3048000" cy="2514600"/>
          </a:xfrm>
          <a:prstGeom prst="roundRect">
            <a:avLst>
              <a:gd name="adj" fmla="val 4545"/>
            </a:avLst>
          </a:prstGeom>
          <a:solidFill>
            <a:srgbClr val="FDF1E7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DF61DB-FAB1-44EF-96AC-F4E55145ED6A}"/>
              </a:ext>
            </a:extLst>
          </p:cNvPr>
          <p:cNvSpPr>
            <a:spLocks noGrp="1"/>
          </p:cNvSpPr>
          <p:nvPr/>
        </p:nvSpPr>
        <p:spPr>
          <a:xfrm>
            <a:off x="8362950" y="25336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D5578"/>
                </a:solidFill>
              </a:defRPr>
            </a:pPr>
            <a:r>
              <a:rPr sz="1650" b="1">
                <a:solidFill>
                  <a:srgbClr val="1D5578"/>
                </a:solidFill>
              </a:rPr>
              <a:t>Business question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4FE88E-5FD0-4CAC-9429-5EC878DDBD1B}"/>
              </a:ext>
            </a:extLst>
          </p:cNvPr>
          <p:cNvSpPr>
            <a:spLocks noGrp="1"/>
          </p:cNvSpPr>
          <p:nvPr/>
        </p:nvSpPr>
        <p:spPr>
          <a:xfrm>
            <a:off x="8362950" y="2952750"/>
            <a:ext cx="2305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83B56"/>
                </a:solidFill>
              </a:defRPr>
            </a:pPr>
            <a:r>
              <a:rPr sz="1650" b="1">
                <a:solidFill>
                  <a:srgbClr val="183B56"/>
                </a:solidFill>
              </a:rPr>
              <a:t>What changed between March and April?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2E1C91-F2B0-4753-917E-25A97127A24D}"/>
              </a:ext>
            </a:extLst>
          </p:cNvPr>
          <p:cNvSpPr>
            <a:spLocks noGrp="1"/>
          </p:cNvSpPr>
          <p:nvPr/>
        </p:nvSpPr>
        <p:spPr>
          <a:xfrm>
            <a:off x="8362950" y="3714750"/>
            <a:ext cx="22383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1738A"/>
                </a:solidFill>
              </a:defRPr>
            </a:pPr>
            <a:r>
              <a:rPr sz="1275" b="0">
                <a:solidFill>
                  <a:srgbClr val="61738A"/>
                </a:solidFill>
              </a:rPr>
              <a:t>Check sales mode, policy mix, city contribution and campaign activity before making a decision.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1778C1-5D1E-43B0-A568-91C3E6552257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1738A"/>
                </a:solidFill>
              </a:defRPr>
            </a:pPr>
            <a:r>
              <a:rPr sz="750" b="0">
                <a:solidFill>
                  <a:srgbClr val="61738A"/>
                </a:solidFill>
              </a:rPr>
              <a:t>Insurance Analytics Dashboard  |  08</a:t>
            </a:r>
          </a:p>
        </p:txBody>
      </p:sp>
    </p:spTree>
    <p:extLst>
      <p:ext uri="{BB962C8B-B14F-4D97-AF65-F5344CB8AC3E}">
        <p14:creationId xmlns:p14="http://schemas.microsoft.com/office/powerpoint/2010/main" val="165546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60796BC-073F-42B9-BC26-CC245976FB2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F80C3"/>
                </a:solidFill>
              </a:defRPr>
            </a:pPr>
            <a:r>
              <a:rPr sz="900" b="1">
                <a:solidFill>
                  <a:srgbClr val="2F80C3"/>
                </a:solidFill>
              </a:rPr>
              <a:t>AGE SEGMENT ACTIONS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8FCDCD-7D72-4050-93B7-0ABCA8E5108D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D5578"/>
                </a:solidFill>
              </a:defRPr>
            </a:pPr>
            <a:r>
              <a:rPr sz="2550" b="1">
                <a:solidFill>
                  <a:srgbClr val="1D5578"/>
                </a:solidFill>
              </a:rPr>
              <a:t>Age analysis connects growth with settlement exposure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0A409E-963E-4808-95F1-5A28D9604344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09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1738A"/>
                </a:solidFill>
              </a:defRPr>
            </a:pPr>
            <a:r>
              <a:rPr sz="1275" b="0">
                <a:solidFill>
                  <a:srgbClr val="61738A"/>
                </a:solidFill>
              </a:rPr>
              <a:t>The age page helps the business avoid treating all customers the same.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B30EA9-F00C-408C-9046-F8D362E07C83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19050"/>
          </a:xfrm>
          <a:prstGeom prst="rect">
            <a:avLst/>
          </a:prstGeom>
          <a:solidFill>
            <a:srgbClr val="D8E4ED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A93332C-2D7C-4A3F-B667-511E8FA4C285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4810125" cy="2905125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9525">
            <a:solidFill>
              <a:srgbClr val="D8E4ED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6271BD-A5D0-42DA-A26D-1F042146E380}"/>
              </a:ext>
            </a:extLst>
          </p:cNvPr>
          <p:cNvSpPr>
            <a:spLocks noGrp="1"/>
          </p:cNvSpPr>
          <p:nvPr/>
        </p:nvSpPr>
        <p:spPr>
          <a:xfrm>
            <a:off x="971550" y="23812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D5578"/>
                </a:solidFill>
              </a:defRPr>
            </a:pPr>
            <a:r>
              <a:rPr sz="1650" b="1">
                <a:solidFill>
                  <a:srgbClr val="1D5578"/>
                </a:solidFill>
              </a:rPr>
              <a:t>Key observations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6297AE-B96F-46EA-8053-CB424F80091C}"/>
              </a:ext>
            </a:extLst>
          </p:cNvPr>
          <p:cNvSpPr>
            <a:spLocks noGrp="1"/>
          </p:cNvSpPr>
          <p:nvPr/>
        </p:nvSpPr>
        <p:spPr>
          <a:xfrm>
            <a:off x="971550" y="29146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6A69A"/>
                </a:solidFill>
              </a:defRPr>
            </a:pPr>
            <a:r>
              <a:rPr sz="1650" b="1">
                <a:solidFill>
                  <a:srgbClr val="26A69A"/>
                </a:solidFill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1231BA-B93F-43FC-961D-BD25D6F730F7}"/>
              </a:ext>
            </a:extLst>
          </p:cNvPr>
          <p:cNvSpPr>
            <a:spLocks noGrp="1"/>
          </p:cNvSpPr>
          <p:nvPr/>
        </p:nvSpPr>
        <p:spPr>
          <a:xfrm>
            <a:off x="1209675" y="2914650"/>
            <a:ext cx="3667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3B56"/>
                </a:solidFill>
              </a:defRPr>
            </a:pPr>
            <a:r>
              <a:rPr sz="1275" b="0">
                <a:solidFill>
                  <a:srgbClr val="183B56"/>
                </a:solidFill>
              </a:rPr>
              <a:t>31–40 is the strongest revenue age group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F66AF7-5E9E-45E7-8093-B7EB278E3C3B}"/>
              </a:ext>
            </a:extLst>
          </p:cNvPr>
          <p:cNvSpPr>
            <a:spLocks noGrp="1"/>
          </p:cNvSpPr>
          <p:nvPr/>
        </p:nvSpPr>
        <p:spPr>
          <a:xfrm>
            <a:off x="971550" y="339090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6A69A"/>
                </a:solidFill>
              </a:defRPr>
            </a:pPr>
            <a:r>
              <a:rPr sz="1650" b="1">
                <a:solidFill>
                  <a:srgbClr val="26A69A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6F1B33-FF8E-4CD6-ABF9-869CE36998FE}"/>
              </a:ext>
            </a:extLst>
          </p:cNvPr>
          <p:cNvSpPr>
            <a:spLocks noGrp="1"/>
          </p:cNvSpPr>
          <p:nvPr/>
        </p:nvSpPr>
        <p:spPr>
          <a:xfrm>
            <a:off x="1209675" y="3390900"/>
            <a:ext cx="3667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3B56"/>
                </a:solidFill>
              </a:defRPr>
            </a:pPr>
            <a:r>
              <a:rPr sz="1275" b="0">
                <a:solidFill>
                  <a:srgbClr val="183B56"/>
                </a:solidFill>
              </a:rPr>
              <a:t>Revenue and customer counts need separate axes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EB5F81-693F-449F-A202-DC465AB89645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6A69A"/>
                </a:solidFill>
              </a:defRPr>
            </a:pPr>
            <a:r>
              <a:rPr sz="1650" b="1">
                <a:solidFill>
                  <a:srgbClr val="26A69A"/>
                </a:solidFill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79E7F0-4019-47D1-9F3D-E06945A9A7E6}"/>
              </a:ext>
            </a:extLst>
          </p:cNvPr>
          <p:cNvSpPr>
            <a:spLocks noGrp="1"/>
          </p:cNvSpPr>
          <p:nvPr/>
        </p:nvSpPr>
        <p:spPr>
          <a:xfrm>
            <a:off x="1209675" y="3867150"/>
            <a:ext cx="3667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3B56"/>
                </a:solidFill>
              </a:defRPr>
            </a:pPr>
            <a:r>
              <a:rPr sz="1275" b="0">
                <a:solidFill>
                  <a:srgbClr val="183B56"/>
                </a:solidFill>
              </a:rPr>
              <a:t>Settlement exposure should be reviewed alongside policy preference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9BDFA3D-B4CB-4C8F-A670-9F8B52752875}"/>
              </a:ext>
            </a:extLst>
          </p:cNvPr>
          <p:cNvSpPr>
            <a:spLocks noGrp="1"/>
          </p:cNvSpPr>
          <p:nvPr/>
        </p:nvSpPr>
        <p:spPr>
          <a:xfrm>
            <a:off x="5972175" y="2095500"/>
            <a:ext cx="5534025" cy="2905125"/>
          </a:xfrm>
          <a:prstGeom prst="roundRect">
            <a:avLst>
              <a:gd name="adj" fmla="val 3934"/>
            </a:avLst>
          </a:prstGeom>
          <a:solidFill>
            <a:srgbClr val="EAF6F2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CC860E-226F-4796-8E56-9F1CB2280A64}"/>
              </a:ext>
            </a:extLst>
          </p:cNvPr>
          <p:cNvSpPr>
            <a:spLocks noGrp="1"/>
          </p:cNvSpPr>
          <p:nvPr/>
        </p:nvSpPr>
        <p:spPr>
          <a:xfrm>
            <a:off x="6257925" y="23812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D5578"/>
                </a:solidFill>
              </a:defRPr>
            </a:pPr>
            <a:r>
              <a:rPr sz="1650" b="1">
                <a:solidFill>
                  <a:srgbClr val="1D5578"/>
                </a:solidFill>
              </a:rPr>
              <a:t>Recommended next actions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E343CC-733F-4607-99B4-32FDF33E8056}"/>
              </a:ext>
            </a:extLst>
          </p:cNvPr>
          <p:cNvSpPr>
            <a:spLocks noGrp="1"/>
          </p:cNvSpPr>
          <p:nvPr/>
        </p:nvSpPr>
        <p:spPr>
          <a:xfrm>
            <a:off x="6257925" y="29146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6A69A"/>
                </a:solidFill>
              </a:defRPr>
            </a:pPr>
            <a:r>
              <a:rPr sz="1650" b="1">
                <a:solidFill>
                  <a:srgbClr val="26A69A"/>
                </a:solidFill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317922-57A9-4E1D-BDD9-0742528F8D53}"/>
              </a:ext>
            </a:extLst>
          </p:cNvPr>
          <p:cNvSpPr>
            <a:spLocks noGrp="1"/>
          </p:cNvSpPr>
          <p:nvPr/>
        </p:nvSpPr>
        <p:spPr>
          <a:xfrm>
            <a:off x="6496050" y="2914650"/>
            <a:ext cx="433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83B56"/>
                </a:solidFill>
              </a:defRPr>
            </a:pPr>
            <a:r>
              <a:rPr sz="1200" b="0">
                <a:solidFill>
                  <a:srgbClr val="183B56"/>
                </a:solidFill>
              </a:rPr>
              <a:t>Protect Delhi NCR with channel and policy analysis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CD0DDF-2D3D-485E-9568-9B1271B57DEC}"/>
              </a:ext>
            </a:extLst>
          </p:cNvPr>
          <p:cNvSpPr>
            <a:spLocks noGrp="1"/>
          </p:cNvSpPr>
          <p:nvPr/>
        </p:nvSpPr>
        <p:spPr>
          <a:xfrm>
            <a:off x="6257925" y="33337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6A69A"/>
                </a:solidFill>
              </a:defRPr>
            </a:pPr>
            <a:r>
              <a:rPr sz="1650" b="1">
                <a:solidFill>
                  <a:srgbClr val="26A69A"/>
                </a:solidFill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A75EC1-F47F-4168-BE59-8CCD513A86B9}"/>
              </a:ext>
            </a:extLst>
          </p:cNvPr>
          <p:cNvSpPr>
            <a:spLocks noGrp="1"/>
          </p:cNvSpPr>
          <p:nvPr/>
        </p:nvSpPr>
        <p:spPr>
          <a:xfrm>
            <a:off x="6496050" y="3333750"/>
            <a:ext cx="433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83B56"/>
                </a:solidFill>
              </a:defRPr>
            </a:pPr>
            <a:r>
              <a:rPr sz="1200" b="0">
                <a:solidFill>
                  <a:srgbClr val="183B56"/>
                </a:solidFill>
              </a:rPr>
              <a:t>Investigate the March-to-April revenue drop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7BDDB7-A1FA-445A-948B-A64884D4BB70}"/>
              </a:ext>
            </a:extLst>
          </p:cNvPr>
          <p:cNvSpPr>
            <a:spLocks noGrp="1"/>
          </p:cNvSpPr>
          <p:nvPr/>
        </p:nvSpPr>
        <p:spPr>
          <a:xfrm>
            <a:off x="6257925" y="37528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6A69A"/>
                </a:solidFill>
              </a:defRPr>
            </a:pPr>
            <a:r>
              <a:rPr sz="1650" b="1">
                <a:solidFill>
                  <a:srgbClr val="26A69A"/>
                </a:solidFill>
              </a:rPr>
              <a:t>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56286A-4DEC-4236-818F-FABEA9CC804B}"/>
              </a:ext>
            </a:extLst>
          </p:cNvPr>
          <p:cNvSpPr>
            <a:spLocks noGrp="1"/>
          </p:cNvSpPr>
          <p:nvPr/>
        </p:nvSpPr>
        <p:spPr>
          <a:xfrm>
            <a:off x="6496050" y="3752850"/>
            <a:ext cx="433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83B56"/>
                </a:solidFill>
              </a:defRPr>
            </a:pPr>
            <a:r>
              <a:rPr sz="1200" b="0">
                <a:solidFill>
                  <a:srgbClr val="183B56"/>
                </a:solidFill>
              </a:rPr>
              <a:t>Create age-specific offers using policy and sales-mode preference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6B245A-7B87-44B0-ADBE-54AE9111FEB8}"/>
              </a:ext>
            </a:extLst>
          </p:cNvPr>
          <p:cNvSpPr>
            <a:spLocks noGrp="1"/>
          </p:cNvSpPr>
          <p:nvPr/>
        </p:nvSpPr>
        <p:spPr>
          <a:xfrm>
            <a:off x="6257925" y="4171950"/>
            <a:ext cx="17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6A69A"/>
                </a:solidFill>
              </a:defRPr>
            </a:pPr>
            <a:r>
              <a:rPr sz="1650" b="1">
                <a:solidFill>
                  <a:srgbClr val="26A69A"/>
                </a:solidFill>
              </a:rPr>
              <a:t>•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D2DBA8-2B60-4F72-B882-4B2D3F1FD878}"/>
              </a:ext>
            </a:extLst>
          </p:cNvPr>
          <p:cNvSpPr>
            <a:spLocks noGrp="1"/>
          </p:cNvSpPr>
          <p:nvPr/>
        </p:nvSpPr>
        <p:spPr>
          <a:xfrm>
            <a:off x="6496050" y="4171950"/>
            <a:ext cx="433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83B56"/>
                </a:solidFill>
              </a:defRPr>
            </a:pPr>
            <a:r>
              <a:rPr sz="1200" b="0">
                <a:solidFill>
                  <a:srgbClr val="183B56"/>
                </a:solidFill>
              </a:rPr>
              <a:t>Review lower-revenue cities for local opportunity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392122-9D62-47A7-A397-719816CE920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61738A"/>
                </a:solidFill>
              </a:defRPr>
            </a:pPr>
            <a:r>
              <a:rPr sz="750" b="0">
                <a:solidFill>
                  <a:srgbClr val="61738A"/>
                </a:solidFill>
              </a:rPr>
              <a:t>Insurance Analytics Dashboard  |  09</a:t>
            </a:r>
          </a:p>
        </p:txBody>
      </p:sp>
    </p:spTree>
    <p:extLst>
      <p:ext uri="{BB962C8B-B14F-4D97-AF65-F5344CB8AC3E}">
        <p14:creationId xmlns:p14="http://schemas.microsoft.com/office/powerpoint/2010/main" val="2093264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167E3CD-6974-4D6E-ABF4-A2D049D7F67A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F80C3"/>
                </a:solidFill>
              </a:defRPr>
            </a:pPr>
            <a:r>
              <a:rPr sz="975" b="1">
                <a:solidFill>
                  <a:srgbClr val="2F80C3"/>
                </a:solidFill>
              </a:rPr>
              <a:t>INSURANCE ANALYTICS DASHBOARD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93CBF5-2E33-4F83-8736-8A0A487C4078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66675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1D5578"/>
                </a:solidFill>
              </a:defRPr>
            </a:pPr>
            <a:r>
              <a:rPr sz="3600" b="1">
                <a:solidFill>
                  <a:srgbClr val="1D5578"/>
                </a:solidFill>
              </a:rPr>
              <a:t>Better visibility leads</a:t>
            </a:r>
          </a:p>
          <a:p>
            <a:pPr algn="l">
              <a:defRPr sz="3600" b="1">
                <a:solidFill>
                  <a:srgbClr val="1D5578"/>
                </a:solidFill>
              </a:defRPr>
            </a:pPr>
            <a:r>
              <a:rPr sz="3600" b="1">
                <a:solidFill>
                  <a:srgbClr val="1D5578"/>
                </a:solidFill>
              </a:rPr>
              <a:t>to better decisions.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568D38-ADCC-4E1E-BC9A-729BF6435FC5}"/>
              </a:ext>
            </a:extLst>
          </p:cNvPr>
          <p:cNvSpPr>
            <a:spLocks noGrp="1"/>
          </p:cNvSpPr>
          <p:nvPr/>
        </p:nvSpPr>
        <p:spPr>
          <a:xfrm>
            <a:off x="685800" y="2971800"/>
            <a:ext cx="619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61738A"/>
                </a:solidFill>
              </a:defRPr>
            </a:pPr>
            <a:r>
              <a:rPr sz="1650" b="0">
                <a:solidFill>
                  <a:srgbClr val="61738A"/>
                </a:solidFill>
              </a:rPr>
              <a:t>The dashboard gives the business one place to monitor performance, identify changes and act on customer segments.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938BC-D527-454E-8317-337C6C418A5B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4095750" cy="9525"/>
          </a:xfrm>
          <a:prstGeom prst="rect">
            <a:avLst/>
          </a:prstGeom>
          <a:solidFill>
            <a:srgbClr val="D8E4ED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E61908-14A6-4A30-BF5D-2A032AE40699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D5578"/>
                </a:solidFill>
              </a:defRPr>
            </a:pPr>
            <a:r>
              <a:rPr sz="2250" b="1">
                <a:solidFill>
                  <a:srgbClr val="1D5578"/>
                </a:solidFill>
              </a:rPr>
              <a:t>Thank you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BCBAB8-1FF3-4E75-863F-358ACE55AB2C}"/>
              </a:ext>
            </a:extLst>
          </p:cNvPr>
          <p:cNvSpPr>
            <a:spLocks noGrp="1"/>
          </p:cNvSpPr>
          <p:nvPr/>
        </p:nvSpPr>
        <p:spPr>
          <a:xfrm>
            <a:off x="685800" y="5267325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83B56"/>
                </a:solidFill>
              </a:defRPr>
            </a:pPr>
            <a:r>
              <a:rPr lang="en-US" sz="1200" dirty="0">
                <a:solidFill>
                  <a:srgbClr val="183B56"/>
                </a:solidFill>
              </a:rPr>
              <a:t>Abhishek</a:t>
            </a:r>
            <a:r>
              <a:rPr sz="1200" b="0" dirty="0">
                <a:solidFill>
                  <a:srgbClr val="183B56"/>
                </a:solidFill>
              </a:rPr>
              <a:t> Singh</a:t>
            </a:r>
            <a:r>
              <a:rPr lang="en-US" sz="1200" b="0" dirty="0">
                <a:solidFill>
                  <a:srgbClr val="183B56"/>
                </a:solidFill>
              </a:rPr>
              <a:t> Chauhan</a:t>
            </a:r>
            <a:r>
              <a:rPr sz="1200" b="0" dirty="0">
                <a:solidFill>
                  <a:srgbClr val="183B56"/>
                </a:solidFill>
              </a:rPr>
              <a:t>  |  Power BI Portfolio Project</a:t>
            </a:r>
          </a:p>
        </p:txBody>
      </p:sp>
    </p:spTree>
    <p:extLst>
      <p:ext uri="{BB962C8B-B14F-4D97-AF65-F5344CB8AC3E}">
        <p14:creationId xmlns:p14="http://schemas.microsoft.com/office/powerpoint/2010/main" val="19536916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875</Words>
  <Application>Microsoft Office PowerPoint</Application>
  <DocSecurity>0</DocSecurity>
  <PresentationFormat>Widescreen</PresentationFormat>
  <Paragraphs>167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abhishek chauhan</cp:lastModifiedBy>
  <cp:revision>1</cp:revision>
  <dcterms:created xsi:type="dcterms:W3CDTF">2026-09-02T11:07:57Z</dcterms:created>
  <dcterms:modified xsi:type="dcterms:W3CDTF">2026-09-04T10:56:17Z</dcterms:modified>
</cp:coreProperties>
</file>